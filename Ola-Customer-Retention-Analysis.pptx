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Merriweather" panose="00000500000000000000" pitchFamily="2" charset="0"/>
      <p:regular r:id="rId17"/>
    </p:embeddedFont>
    <p:embeddedFont>
      <p:font typeface="Merriweather Bold" panose="00000800000000000000" charset="0"/>
      <p:regular r:id="rId18"/>
    </p:embeddedFont>
    <p:embeddedFont>
      <p:font typeface="Montserrat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DEC4E9-746C-4B2C-8B48-5B4439DB3BAC}" v="1" dt="2026-07-16T19:37:35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2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ra Pathade" userId="ecabf40330bb97c1" providerId="LiveId" clId="{00CAB3AB-F496-422B-9574-D424CA26E857}"/>
    <pc:docChg chg="undo custSel modSld">
      <pc:chgData name="Rudra Pathade" userId="ecabf40330bb97c1" providerId="LiveId" clId="{00CAB3AB-F496-422B-9574-D424CA26E857}" dt="2026-07-16T19:41:48.434" v="319" actId="113"/>
      <pc:docMkLst>
        <pc:docMk/>
      </pc:docMkLst>
      <pc:sldChg chg="addSp modSp mod">
        <pc:chgData name="Rudra Pathade" userId="ecabf40330bb97c1" providerId="LiveId" clId="{00CAB3AB-F496-422B-9574-D424CA26E857}" dt="2026-07-16T19:41:48.434" v="319" actId="113"/>
        <pc:sldMkLst>
          <pc:docMk/>
          <pc:sldMk cId="0" sldId="256"/>
        </pc:sldMkLst>
        <pc:spChg chg="add mod">
          <ac:chgData name="Rudra Pathade" userId="ecabf40330bb97c1" providerId="LiveId" clId="{00CAB3AB-F496-422B-9574-D424CA26E857}" dt="2026-07-16T19:41:48.434" v="319" actId="113"/>
          <ac:spMkLst>
            <pc:docMk/>
            <pc:sldMk cId="0" sldId="256"/>
            <ac:spMk id="19" creationId="{12FAE6BB-41E7-3A17-F80C-50200757230E}"/>
          </ac:spMkLst>
        </pc:spChg>
        <pc:grpChg chg="mod">
          <ac:chgData name="Rudra Pathade" userId="ecabf40330bb97c1" providerId="LiveId" clId="{00CAB3AB-F496-422B-9574-D424CA26E857}" dt="2026-07-16T19:41:47.078" v="318" actId="1038"/>
          <ac:grpSpMkLst>
            <pc:docMk/>
            <pc:sldMk cId="0" sldId="256"/>
            <ac:grpSpMk id="4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937744" y="3274371"/>
            <a:ext cx="9270502" cy="194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Ola Customer Retention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7744" y="5589089"/>
            <a:ext cx="10184902" cy="588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dirty="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Behavior, Ride Performance &amp; Retention Insights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937744" y="6524920"/>
            <a:ext cx="844896" cy="468659"/>
            <a:chOff x="0" y="0"/>
            <a:chExt cx="1126528" cy="6248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26490" cy="624840"/>
            </a:xfrm>
            <a:custGeom>
              <a:avLst/>
              <a:gdLst/>
              <a:ahLst/>
              <a:cxnLst/>
              <a:rect l="l" t="t" r="r" b="b"/>
              <a:pathLst>
                <a:path w="1126490" h="624840">
                  <a:moveTo>
                    <a:pt x="0" y="138176"/>
                  </a:moveTo>
                  <a:cubicBezTo>
                    <a:pt x="0" y="61849"/>
                    <a:pt x="61849" y="0"/>
                    <a:pt x="138176" y="0"/>
                  </a:cubicBezTo>
                  <a:lnTo>
                    <a:pt x="988314" y="0"/>
                  </a:lnTo>
                  <a:cubicBezTo>
                    <a:pt x="1064641" y="0"/>
                    <a:pt x="1126490" y="61849"/>
                    <a:pt x="1126490" y="138176"/>
                  </a:cubicBezTo>
                  <a:lnTo>
                    <a:pt x="1126490" y="486664"/>
                  </a:lnTo>
                  <a:cubicBezTo>
                    <a:pt x="1126490" y="562991"/>
                    <a:pt x="1064641" y="624840"/>
                    <a:pt x="988314" y="624840"/>
                  </a:cubicBezTo>
                  <a:lnTo>
                    <a:pt x="138176" y="624840"/>
                  </a:lnTo>
                  <a:cubicBezTo>
                    <a:pt x="61849" y="624840"/>
                    <a:pt x="0" y="562991"/>
                    <a:pt x="0" y="486664"/>
                  </a:cubicBezTo>
                  <a:close/>
                </a:path>
              </a:pathLst>
            </a:custGeom>
            <a:solidFill>
              <a:srgbClr val="001D4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122739" y="6626866"/>
            <a:ext cx="1389307" cy="27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SQL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936831" y="6524920"/>
            <a:ext cx="2670572" cy="468659"/>
            <a:chOff x="0" y="0"/>
            <a:chExt cx="3560762" cy="62487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60699" cy="624840"/>
            </a:xfrm>
            <a:custGeom>
              <a:avLst/>
              <a:gdLst/>
              <a:ahLst/>
              <a:cxnLst/>
              <a:rect l="l" t="t" r="r" b="b"/>
              <a:pathLst>
                <a:path w="3560699" h="624840">
                  <a:moveTo>
                    <a:pt x="0" y="138176"/>
                  </a:moveTo>
                  <a:cubicBezTo>
                    <a:pt x="0" y="61849"/>
                    <a:pt x="61849" y="0"/>
                    <a:pt x="138176" y="0"/>
                  </a:cubicBezTo>
                  <a:lnTo>
                    <a:pt x="3422523" y="0"/>
                  </a:lnTo>
                  <a:cubicBezTo>
                    <a:pt x="3498850" y="0"/>
                    <a:pt x="3560699" y="61849"/>
                    <a:pt x="3560699" y="138176"/>
                  </a:cubicBezTo>
                  <a:lnTo>
                    <a:pt x="3560699" y="486664"/>
                  </a:lnTo>
                  <a:cubicBezTo>
                    <a:pt x="3560699" y="562991"/>
                    <a:pt x="3498850" y="624840"/>
                    <a:pt x="3422523" y="624840"/>
                  </a:cubicBezTo>
                  <a:lnTo>
                    <a:pt x="138176" y="624840"/>
                  </a:lnTo>
                  <a:cubicBezTo>
                    <a:pt x="61849" y="624840"/>
                    <a:pt x="0" y="562991"/>
                    <a:pt x="0" y="486664"/>
                  </a:cubicBezTo>
                  <a:close/>
                </a:path>
              </a:pathLst>
            </a:custGeom>
            <a:solidFill>
              <a:srgbClr val="001D4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21826" y="6626866"/>
            <a:ext cx="3214983" cy="27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PYTHON (PANDAS)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761594" y="6524920"/>
            <a:ext cx="1601238" cy="468659"/>
            <a:chOff x="0" y="0"/>
            <a:chExt cx="2134984" cy="62487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34997" cy="624840"/>
            </a:xfrm>
            <a:custGeom>
              <a:avLst/>
              <a:gdLst/>
              <a:ahLst/>
              <a:cxnLst/>
              <a:rect l="l" t="t" r="r" b="b"/>
              <a:pathLst>
                <a:path w="2134997" h="624840">
                  <a:moveTo>
                    <a:pt x="0" y="138176"/>
                  </a:moveTo>
                  <a:cubicBezTo>
                    <a:pt x="0" y="61849"/>
                    <a:pt x="61849" y="0"/>
                    <a:pt x="138176" y="0"/>
                  </a:cubicBezTo>
                  <a:lnTo>
                    <a:pt x="1996821" y="0"/>
                  </a:lnTo>
                  <a:cubicBezTo>
                    <a:pt x="2073148" y="0"/>
                    <a:pt x="2134997" y="61849"/>
                    <a:pt x="2134997" y="138176"/>
                  </a:cubicBezTo>
                  <a:lnTo>
                    <a:pt x="2134997" y="486664"/>
                  </a:lnTo>
                  <a:cubicBezTo>
                    <a:pt x="2134997" y="562991"/>
                    <a:pt x="2073148" y="624840"/>
                    <a:pt x="1996821" y="624840"/>
                  </a:cubicBezTo>
                  <a:lnTo>
                    <a:pt x="138176" y="624840"/>
                  </a:lnTo>
                  <a:cubicBezTo>
                    <a:pt x="61849" y="624840"/>
                    <a:pt x="0" y="562991"/>
                    <a:pt x="0" y="486664"/>
                  </a:cubicBezTo>
                  <a:close/>
                </a:path>
              </a:pathLst>
            </a:custGeom>
            <a:solidFill>
              <a:srgbClr val="001D4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946579" y="6626866"/>
            <a:ext cx="2145659" cy="27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POWER BI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FAE6BB-41E7-3A17-F80C-50200757230E}"/>
              </a:ext>
            </a:extLst>
          </p:cNvPr>
          <p:cNvSpPr txBox="1"/>
          <p:nvPr/>
        </p:nvSpPr>
        <p:spPr>
          <a:xfrm>
            <a:off x="11607356" y="7886700"/>
            <a:ext cx="30786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Merriweather" panose="00000500000000000000" pitchFamily="2" charset="0"/>
              </a:rPr>
              <a:t>Presented By</a:t>
            </a:r>
            <a:r>
              <a:rPr lang="en-US" sz="2000" dirty="0">
                <a:solidFill>
                  <a:schemeClr val="bg1"/>
                </a:solidFill>
                <a:latin typeface="Merriweather" panose="00000500000000000000" pitchFamily="2" charset="0"/>
              </a:rPr>
              <a:t> </a:t>
            </a:r>
            <a:r>
              <a:rPr lang="en-US" sz="800" dirty="0">
                <a:solidFill>
                  <a:schemeClr val="bg1"/>
                </a:solidFill>
                <a:latin typeface="Merriweather" panose="00000500000000000000" pitchFamily="2" charset="0"/>
              </a:rPr>
              <a:t>     </a:t>
            </a:r>
          </a:p>
          <a:p>
            <a:r>
              <a:rPr lang="en-US" sz="800" dirty="0">
                <a:solidFill>
                  <a:schemeClr val="bg1"/>
                </a:solidFill>
                <a:latin typeface="Merriweather" panose="00000500000000000000" pitchFamily="2" charset="0"/>
              </a:rPr>
              <a:t> </a:t>
            </a:r>
            <a:br>
              <a:rPr lang="en-US" sz="2400" dirty="0">
                <a:solidFill>
                  <a:schemeClr val="bg1"/>
                </a:solidFill>
                <a:latin typeface="Merriweather" panose="00000500000000000000" pitchFamily="2" charset="0"/>
              </a:rPr>
            </a:br>
            <a:r>
              <a:rPr lang="en-US" sz="2400" dirty="0">
                <a:solidFill>
                  <a:schemeClr val="bg1"/>
                </a:solidFill>
                <a:latin typeface="Merriweather" panose="00000500000000000000" pitchFamily="2" charset="0"/>
              </a:rPr>
              <a:t>Rudra Pathade</a:t>
            </a:r>
            <a:endParaRPr lang="en-IN" sz="2400" dirty="0">
              <a:solidFill>
                <a:schemeClr val="bg1"/>
              </a:solidFill>
              <a:latin typeface="Merriweather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4982" y="844601"/>
            <a:ext cx="2445696" cy="412252"/>
            <a:chOff x="0" y="0"/>
            <a:chExt cx="3260928" cy="549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60852" cy="549656"/>
            </a:xfrm>
            <a:custGeom>
              <a:avLst/>
              <a:gdLst/>
              <a:ahLst/>
              <a:cxnLst/>
              <a:rect l="l" t="t" r="r" b="b"/>
              <a:pathLst>
                <a:path w="3260852" h="549656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3139313" y="0"/>
                  </a:lnTo>
                  <a:cubicBezTo>
                    <a:pt x="3206496" y="0"/>
                    <a:pt x="3260852" y="54483"/>
                    <a:pt x="3260852" y="121539"/>
                  </a:cubicBezTo>
                  <a:lnTo>
                    <a:pt x="3260852" y="428117"/>
                  </a:lnTo>
                  <a:cubicBezTo>
                    <a:pt x="3260852" y="495300"/>
                    <a:pt x="3206369" y="549656"/>
                    <a:pt x="3139313" y="549656"/>
                  </a:cubicBezTo>
                  <a:lnTo>
                    <a:pt x="121539" y="549656"/>
                  </a:lnTo>
                  <a:cubicBezTo>
                    <a:pt x="54483" y="549656"/>
                    <a:pt x="0" y="495173"/>
                    <a:pt x="0" y="42811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597" r="-2" b="-65599"/>
              </a:stretch>
            </a:blipFill>
            <a:ln w="9526" cap="sq">
              <a:solidFill>
                <a:srgbClr val="609D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38698" y="938365"/>
            <a:ext cx="3032674" cy="234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3"/>
              </a:lnSpc>
            </a:pPr>
            <a:r>
              <a:rPr lang="en-US" sz="1600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4" y="1333652"/>
            <a:ext cx="16128502" cy="838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the Business Problem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9744" y="2769689"/>
            <a:ext cx="10257082" cy="5812336"/>
            <a:chOff x="0" y="0"/>
            <a:chExt cx="13676109" cy="7749781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3676122" cy="7749794"/>
            </a:xfrm>
            <a:custGeom>
              <a:avLst/>
              <a:gdLst/>
              <a:ahLst/>
              <a:cxnLst/>
              <a:rect l="l" t="t" r="r" b="b"/>
              <a:pathLst>
                <a:path w="13676122" h="7749794">
                  <a:moveTo>
                    <a:pt x="0" y="0"/>
                  </a:moveTo>
                  <a:lnTo>
                    <a:pt x="13676122" y="0"/>
                  </a:lnTo>
                  <a:lnTo>
                    <a:pt x="13676122" y="7749794"/>
                  </a:lnTo>
                  <a:lnTo>
                    <a:pt x="0" y="7749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7" b="-5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993166" y="3414865"/>
            <a:ext cx="5224462" cy="2029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This project analyzes customer ride booking behavior to identify the key factors influencing </a:t>
            </a:r>
            <a:r>
              <a:rPr lang="en-US" sz="2000" b="1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retention, cancellations, satisfaction,</a:t>
            </a: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and </a:t>
            </a:r>
            <a:r>
              <a:rPr lang="en-US" sz="2000" b="1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payment preferences</a:t>
            </a: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93166" y="5662317"/>
            <a:ext cx="5224462" cy="42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Business Goals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93166" y="6256734"/>
            <a:ext cx="5224462" cy="2347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600" lvl="1" indent="-241300" algn="l">
              <a:lnSpc>
                <a:spcPts val="2976"/>
              </a:lnSpc>
              <a:buFont typeface="Arial"/>
              <a:buChar char="•"/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Improve customer retention rates</a:t>
            </a:r>
          </a:p>
          <a:p>
            <a:pPr marL="482600" lvl="1" indent="-241300" algn="l">
              <a:lnSpc>
                <a:spcPts val="2976"/>
              </a:lnSpc>
              <a:buFont typeface="Arial"/>
              <a:buChar char="•"/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Reduce ride cancellations</a:t>
            </a:r>
          </a:p>
          <a:p>
            <a:pPr marL="482600" lvl="1" indent="-241300" algn="l">
              <a:lnSpc>
                <a:spcPts val="2976"/>
              </a:lnSpc>
              <a:buFont typeface="Arial"/>
              <a:buChar char="•"/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Increase booking success rate</a:t>
            </a:r>
          </a:p>
          <a:p>
            <a:pPr marL="482600" lvl="1" indent="-241300" algn="l">
              <a:lnSpc>
                <a:spcPts val="2976"/>
              </a:lnSpc>
              <a:buFont typeface="Arial"/>
              <a:buChar char="•"/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Optimize payment methods</a:t>
            </a:r>
          </a:p>
          <a:p>
            <a:pPr marL="482600" lvl="1" indent="-241300" algn="l">
              <a:lnSpc>
                <a:spcPts val="2976"/>
              </a:lnSpc>
              <a:buFont typeface="Arial"/>
              <a:buChar char="•"/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Identify operational bottlenecks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4982" y="1499740"/>
            <a:ext cx="3220050" cy="478184"/>
            <a:chOff x="0" y="0"/>
            <a:chExt cx="4293400" cy="6375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93362" cy="637540"/>
            </a:xfrm>
            <a:custGeom>
              <a:avLst/>
              <a:gdLst/>
              <a:ahLst/>
              <a:cxnLst/>
              <a:rect l="l" t="t" r="r" b="b"/>
              <a:pathLst>
                <a:path w="4293362" h="637540">
                  <a:moveTo>
                    <a:pt x="0" y="140970"/>
                  </a:moveTo>
                  <a:cubicBezTo>
                    <a:pt x="0" y="63119"/>
                    <a:pt x="63119" y="0"/>
                    <a:pt x="140970" y="0"/>
                  </a:cubicBezTo>
                  <a:lnTo>
                    <a:pt x="4152392" y="0"/>
                  </a:lnTo>
                  <a:cubicBezTo>
                    <a:pt x="4230243" y="0"/>
                    <a:pt x="4293362" y="63119"/>
                    <a:pt x="4293362" y="140970"/>
                  </a:cubicBezTo>
                  <a:lnTo>
                    <a:pt x="4293362" y="496570"/>
                  </a:lnTo>
                  <a:cubicBezTo>
                    <a:pt x="4293362" y="574421"/>
                    <a:pt x="4230243" y="637540"/>
                    <a:pt x="4152392" y="637540"/>
                  </a:cubicBezTo>
                  <a:lnTo>
                    <a:pt x="140970" y="637540"/>
                  </a:lnTo>
                  <a:cubicBezTo>
                    <a:pt x="63119" y="637540"/>
                    <a:pt x="0" y="574421"/>
                    <a:pt x="0" y="49657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215" b="-81221"/>
              </a:stretch>
            </a:blipFill>
            <a:ln w="9526" cap="sq">
              <a:solidFill>
                <a:srgbClr val="609D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64739" y="1606448"/>
            <a:ext cx="3754936" cy="27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900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4" y="2077488"/>
            <a:ext cx="16128502" cy="983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Why Customers Leave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9744" y="3428105"/>
            <a:ext cx="16128502" cy="1082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Ride-hailing platforms lose customers to recurring pain points. This analysis pinpoints the root causes and delivers data-driven recommendations.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079744" y="4857455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29"/>
                </a:lnTo>
                <a:lnTo>
                  <a:pt x="0" y="771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17" b="-61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236594" y="4847930"/>
            <a:ext cx="6714534" cy="49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Frequent Cancellations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6594" y="5429098"/>
            <a:ext cx="6714534" cy="1082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Driver and customer cancellations erode trust and reduce completed rides.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9336729" y="4857455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29"/>
                </a:lnTo>
                <a:lnTo>
                  <a:pt x="0" y="771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35" r="-123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0493578" y="4847930"/>
            <a:ext cx="6714677" cy="49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Long Wait Times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93578" y="5429098"/>
            <a:ext cx="6714677" cy="1082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Extended pickup waits are a leading cause of customer-initiated cancellations.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1079744" y="7128424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8518" b="-185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2236594" y="7118899"/>
            <a:ext cx="6714534" cy="49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Poor Driver Experience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36594" y="7700067"/>
            <a:ext cx="6714534" cy="1082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Low driver ratings directly correlate with reduced customer satisfaction.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9336729" y="7128424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900" r="-1790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10493578" y="7118899"/>
            <a:ext cx="6714677" cy="49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Payment Friction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93578" y="7700067"/>
            <a:ext cx="6714677" cy="1082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Limited or unreliable payment options deter repeat bookings.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4982" y="848620"/>
            <a:ext cx="774202" cy="353616"/>
            <a:chOff x="0" y="0"/>
            <a:chExt cx="1032269" cy="4714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2256" cy="471424"/>
            </a:xfrm>
            <a:custGeom>
              <a:avLst/>
              <a:gdLst/>
              <a:ahLst/>
              <a:cxnLst/>
              <a:rect l="l" t="t" r="r" b="b"/>
              <a:pathLst>
                <a:path w="1032256" h="471424">
                  <a:moveTo>
                    <a:pt x="0" y="104267"/>
                  </a:moveTo>
                  <a:cubicBezTo>
                    <a:pt x="0" y="46736"/>
                    <a:pt x="46736" y="0"/>
                    <a:pt x="104267" y="0"/>
                  </a:cubicBezTo>
                  <a:lnTo>
                    <a:pt x="927989" y="0"/>
                  </a:lnTo>
                  <a:cubicBezTo>
                    <a:pt x="985647" y="0"/>
                    <a:pt x="1032256" y="46736"/>
                    <a:pt x="1032256" y="104267"/>
                  </a:cubicBezTo>
                  <a:lnTo>
                    <a:pt x="1032256" y="367157"/>
                  </a:lnTo>
                  <a:cubicBezTo>
                    <a:pt x="1032256" y="424815"/>
                    <a:pt x="985520" y="471424"/>
                    <a:pt x="927989" y="471424"/>
                  </a:cubicBezTo>
                  <a:lnTo>
                    <a:pt x="104267" y="471424"/>
                  </a:lnTo>
                  <a:cubicBezTo>
                    <a:pt x="46736" y="471551"/>
                    <a:pt x="0" y="424815"/>
                    <a:pt x="0" y="36715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02" r="-8603" b="-13"/>
              </a:stretch>
            </a:blipFill>
            <a:ln w="9526" cap="sq">
              <a:solidFill>
                <a:srgbClr val="609D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15628" y="921248"/>
            <a:ext cx="1407319" cy="20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2"/>
              </a:lnSpc>
            </a:pPr>
            <a:r>
              <a:rPr lang="en-US" sz="1399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4" y="1254471"/>
            <a:ext cx="16128502" cy="717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at a Glance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9744" y="2911973"/>
            <a:ext cx="10289972" cy="5830938"/>
            <a:chOff x="0" y="0"/>
            <a:chExt cx="13719962" cy="7774584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3719938" cy="7774559"/>
            </a:xfrm>
            <a:custGeom>
              <a:avLst/>
              <a:gdLst/>
              <a:ahLst/>
              <a:cxnLst/>
              <a:rect l="l" t="t" r="r" b="b"/>
              <a:pathLst>
                <a:path w="13719938" h="7774559">
                  <a:moveTo>
                    <a:pt x="0" y="0"/>
                  </a:moveTo>
                  <a:lnTo>
                    <a:pt x="13719938" y="0"/>
                  </a:lnTo>
                  <a:lnTo>
                    <a:pt x="13719938" y="7774559"/>
                  </a:lnTo>
                  <a:lnTo>
                    <a:pt x="0" y="77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5" b="-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927234" y="2403872"/>
            <a:ext cx="5295157" cy="5440861"/>
            <a:chOff x="0" y="0"/>
            <a:chExt cx="7060209" cy="72544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60311" cy="7254494"/>
            </a:xfrm>
            <a:custGeom>
              <a:avLst/>
              <a:gdLst/>
              <a:ahLst/>
              <a:cxnLst/>
              <a:rect l="l" t="t" r="r" b="b"/>
              <a:pathLst>
                <a:path w="7060311" h="7254494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6933184" y="0"/>
                  </a:lnTo>
                  <a:cubicBezTo>
                    <a:pt x="7003415" y="0"/>
                    <a:pt x="7060311" y="56896"/>
                    <a:pt x="7060311" y="127127"/>
                  </a:cubicBezTo>
                  <a:lnTo>
                    <a:pt x="7060311" y="7127367"/>
                  </a:lnTo>
                  <a:cubicBezTo>
                    <a:pt x="7060311" y="7197599"/>
                    <a:pt x="7003415" y="7254494"/>
                    <a:pt x="6933184" y="7254494"/>
                  </a:cubicBezTo>
                  <a:lnTo>
                    <a:pt x="127127" y="7254494"/>
                  </a:lnTo>
                  <a:cubicBezTo>
                    <a:pt x="56896" y="7254494"/>
                    <a:pt x="0" y="7197598"/>
                    <a:pt x="0" y="712736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832" r="-81831"/>
              </a:stretch>
            </a:blipFill>
            <a:ln w="9526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931996" y="2955579"/>
            <a:ext cx="5285632" cy="14164"/>
            <a:chOff x="0" y="0"/>
            <a:chExt cx="7047509" cy="188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47484" cy="18923"/>
            </a:xfrm>
            <a:custGeom>
              <a:avLst/>
              <a:gdLst/>
              <a:ahLst/>
              <a:cxnLst/>
              <a:rect l="l" t="t" r="r" b="b"/>
              <a:pathLst>
                <a:path w="7047484" h="18923">
                  <a:moveTo>
                    <a:pt x="0" y="0"/>
                  </a:moveTo>
                  <a:lnTo>
                    <a:pt x="7047484" y="0"/>
                  </a:lnTo>
                  <a:lnTo>
                    <a:pt x="7047484" y="18923"/>
                  </a:lnTo>
                  <a:lnTo>
                    <a:pt x="0" y="18923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931996" y="3497761"/>
            <a:ext cx="5285632" cy="14164"/>
            <a:chOff x="0" y="0"/>
            <a:chExt cx="7047509" cy="188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47484" cy="18923"/>
            </a:xfrm>
            <a:custGeom>
              <a:avLst/>
              <a:gdLst/>
              <a:ahLst/>
              <a:cxnLst/>
              <a:rect l="l" t="t" r="r" b="b"/>
              <a:pathLst>
                <a:path w="7047484" h="18923">
                  <a:moveTo>
                    <a:pt x="0" y="0"/>
                  </a:moveTo>
                  <a:lnTo>
                    <a:pt x="7047484" y="0"/>
                  </a:lnTo>
                  <a:lnTo>
                    <a:pt x="7047484" y="18923"/>
                  </a:lnTo>
                  <a:lnTo>
                    <a:pt x="0" y="18923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931996" y="4039943"/>
            <a:ext cx="5285632" cy="14164"/>
            <a:chOff x="0" y="0"/>
            <a:chExt cx="7047509" cy="188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047484" cy="18923"/>
            </a:xfrm>
            <a:custGeom>
              <a:avLst/>
              <a:gdLst/>
              <a:ahLst/>
              <a:cxnLst/>
              <a:rect l="l" t="t" r="r" b="b"/>
              <a:pathLst>
                <a:path w="7047484" h="18923">
                  <a:moveTo>
                    <a:pt x="0" y="0"/>
                  </a:moveTo>
                  <a:lnTo>
                    <a:pt x="7047484" y="0"/>
                  </a:lnTo>
                  <a:lnTo>
                    <a:pt x="7047484" y="18923"/>
                  </a:lnTo>
                  <a:lnTo>
                    <a:pt x="0" y="18923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931996" y="4582116"/>
            <a:ext cx="5285632" cy="14164"/>
            <a:chOff x="0" y="0"/>
            <a:chExt cx="7047509" cy="1888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047484" cy="18923"/>
            </a:xfrm>
            <a:custGeom>
              <a:avLst/>
              <a:gdLst/>
              <a:ahLst/>
              <a:cxnLst/>
              <a:rect l="l" t="t" r="r" b="b"/>
              <a:pathLst>
                <a:path w="7047484" h="18923">
                  <a:moveTo>
                    <a:pt x="0" y="0"/>
                  </a:moveTo>
                  <a:lnTo>
                    <a:pt x="7047484" y="0"/>
                  </a:lnTo>
                  <a:lnTo>
                    <a:pt x="7047484" y="18923"/>
                  </a:lnTo>
                  <a:lnTo>
                    <a:pt x="0" y="18923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931996" y="5124298"/>
            <a:ext cx="5285632" cy="14164"/>
            <a:chOff x="0" y="0"/>
            <a:chExt cx="7047509" cy="1888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47484" cy="18923"/>
            </a:xfrm>
            <a:custGeom>
              <a:avLst/>
              <a:gdLst/>
              <a:ahLst/>
              <a:cxnLst/>
              <a:rect l="l" t="t" r="r" b="b"/>
              <a:pathLst>
                <a:path w="7047484" h="18923">
                  <a:moveTo>
                    <a:pt x="0" y="0"/>
                  </a:moveTo>
                  <a:lnTo>
                    <a:pt x="7047484" y="0"/>
                  </a:lnTo>
                  <a:lnTo>
                    <a:pt x="7047484" y="18923"/>
                  </a:lnTo>
                  <a:lnTo>
                    <a:pt x="0" y="18923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931996" y="5666480"/>
            <a:ext cx="5285632" cy="14164"/>
            <a:chOff x="0" y="0"/>
            <a:chExt cx="7047509" cy="1888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47484" cy="18923"/>
            </a:xfrm>
            <a:custGeom>
              <a:avLst/>
              <a:gdLst/>
              <a:ahLst/>
              <a:cxnLst/>
              <a:rect l="l" t="t" r="r" b="b"/>
              <a:pathLst>
                <a:path w="7047484" h="18923">
                  <a:moveTo>
                    <a:pt x="0" y="0"/>
                  </a:moveTo>
                  <a:lnTo>
                    <a:pt x="7047484" y="0"/>
                  </a:lnTo>
                  <a:lnTo>
                    <a:pt x="7047484" y="18923"/>
                  </a:lnTo>
                  <a:lnTo>
                    <a:pt x="0" y="18923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931996" y="6208662"/>
            <a:ext cx="5285632" cy="14164"/>
            <a:chOff x="0" y="0"/>
            <a:chExt cx="7047509" cy="1888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47484" cy="18923"/>
            </a:xfrm>
            <a:custGeom>
              <a:avLst/>
              <a:gdLst/>
              <a:ahLst/>
              <a:cxnLst/>
              <a:rect l="l" t="t" r="r" b="b"/>
              <a:pathLst>
                <a:path w="7047484" h="18923">
                  <a:moveTo>
                    <a:pt x="0" y="0"/>
                  </a:moveTo>
                  <a:lnTo>
                    <a:pt x="7047484" y="0"/>
                  </a:lnTo>
                  <a:lnTo>
                    <a:pt x="7047484" y="18923"/>
                  </a:lnTo>
                  <a:lnTo>
                    <a:pt x="0" y="18923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931996" y="6750844"/>
            <a:ext cx="5285632" cy="14164"/>
            <a:chOff x="0" y="0"/>
            <a:chExt cx="7047509" cy="1888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047484" cy="18923"/>
            </a:xfrm>
            <a:custGeom>
              <a:avLst/>
              <a:gdLst/>
              <a:ahLst/>
              <a:cxnLst/>
              <a:rect l="l" t="t" r="r" b="b"/>
              <a:pathLst>
                <a:path w="7047484" h="18923">
                  <a:moveTo>
                    <a:pt x="0" y="0"/>
                  </a:moveTo>
                  <a:lnTo>
                    <a:pt x="7047484" y="0"/>
                  </a:lnTo>
                  <a:lnTo>
                    <a:pt x="7047484" y="18923"/>
                  </a:lnTo>
                  <a:lnTo>
                    <a:pt x="0" y="18923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931996" y="7293026"/>
            <a:ext cx="5285632" cy="14164"/>
            <a:chOff x="0" y="0"/>
            <a:chExt cx="7047509" cy="1888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047484" cy="18923"/>
            </a:xfrm>
            <a:custGeom>
              <a:avLst/>
              <a:gdLst/>
              <a:ahLst/>
              <a:cxnLst/>
              <a:rect l="l" t="t" r="r" b="b"/>
              <a:pathLst>
                <a:path w="7047484" h="18923">
                  <a:moveTo>
                    <a:pt x="0" y="0"/>
                  </a:moveTo>
                  <a:lnTo>
                    <a:pt x="7047484" y="0"/>
                  </a:lnTo>
                  <a:lnTo>
                    <a:pt x="7047484" y="18923"/>
                  </a:lnTo>
                  <a:lnTo>
                    <a:pt x="0" y="18923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168188" y="2498827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1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Feature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801402" y="2498827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1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Value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168188" y="3041009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Total Records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801402" y="3041009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150,000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168188" y="3583181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Total Columns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801402" y="3583181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21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168188" y="4125363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Booking Status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801402" y="4125363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Multiple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168188" y="4667545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Vehicle Types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801402" y="4667545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Multiple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168188" y="5209727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Payment Methods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801402" y="5209727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Multiple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168188" y="5751909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Rating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801402" y="5751909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Available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168188" y="6294091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Driver Rating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801402" y="6294091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Available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168188" y="6836273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Ride Distance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801402" y="6836273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Available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168188" y="7378456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Booking Value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801402" y="7378456"/>
            <a:ext cx="3094587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Available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931996" y="7998466"/>
            <a:ext cx="5285632" cy="128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Key columns include Booking Status, Ride Distance, Vehicle Type, Payment Method, Customer &amp; Driver Ratings, and Cancellation Reasons.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4982" y="1002506"/>
            <a:ext cx="1666427" cy="339033"/>
            <a:chOff x="0" y="0"/>
            <a:chExt cx="2221903" cy="4520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21865" cy="451993"/>
            </a:xfrm>
            <a:custGeom>
              <a:avLst/>
              <a:gdLst/>
              <a:ahLst/>
              <a:cxnLst/>
              <a:rect l="l" t="t" r="r" b="b"/>
              <a:pathLst>
                <a:path w="2221865" h="451993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lnTo>
                    <a:pt x="2121916" y="0"/>
                  </a:lnTo>
                  <a:cubicBezTo>
                    <a:pt x="2177161" y="0"/>
                    <a:pt x="2221865" y="44831"/>
                    <a:pt x="2221865" y="99949"/>
                  </a:cubicBezTo>
                  <a:lnTo>
                    <a:pt x="2221865" y="352044"/>
                  </a:lnTo>
                  <a:cubicBezTo>
                    <a:pt x="2221865" y="407289"/>
                    <a:pt x="2177034" y="451993"/>
                    <a:pt x="2121916" y="451993"/>
                  </a:cubicBezTo>
                  <a:lnTo>
                    <a:pt x="99949" y="451993"/>
                  </a:lnTo>
                  <a:cubicBezTo>
                    <a:pt x="44831" y="451993"/>
                    <a:pt x="0" y="407289"/>
                    <a:pt x="0" y="35204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778" r="-1" b="-45789"/>
              </a:stretch>
            </a:blipFill>
            <a:ln w="9526" cap="sq">
              <a:solidFill>
                <a:srgbClr val="609D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09827" y="1081830"/>
            <a:ext cx="2311156" cy="18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300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4" y="1378591"/>
            <a:ext cx="16128502" cy="696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End-to-End Project Workflow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9744" y="2304307"/>
            <a:ext cx="1084659" cy="1301648"/>
            <a:chOff x="0" y="0"/>
            <a:chExt cx="1446212" cy="1735531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446276" cy="1735582"/>
            </a:xfrm>
            <a:custGeom>
              <a:avLst/>
              <a:gdLst/>
              <a:ahLst/>
              <a:cxnLst/>
              <a:rect l="l" t="t" r="r" b="b"/>
              <a:pathLst>
                <a:path w="1446276" h="1735582">
                  <a:moveTo>
                    <a:pt x="0" y="0"/>
                  </a:moveTo>
                  <a:lnTo>
                    <a:pt x="1446276" y="0"/>
                  </a:lnTo>
                  <a:lnTo>
                    <a:pt x="1446276" y="1735582"/>
                  </a:lnTo>
                  <a:lnTo>
                    <a:pt x="0" y="1735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0" r="4" b="-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16804" y="2502094"/>
            <a:ext cx="14891442" cy="35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Raw Dataset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16804" y="2922832"/>
            <a:ext cx="14891442" cy="324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150K records imported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79744" y="3605955"/>
            <a:ext cx="1084659" cy="1301648"/>
            <a:chOff x="0" y="0"/>
            <a:chExt cx="1446212" cy="1735531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446276" cy="1735582"/>
            </a:xfrm>
            <a:custGeom>
              <a:avLst/>
              <a:gdLst/>
              <a:ahLst/>
              <a:cxnLst/>
              <a:rect l="l" t="t" r="r" b="b"/>
              <a:pathLst>
                <a:path w="1446276" h="1735582">
                  <a:moveTo>
                    <a:pt x="0" y="0"/>
                  </a:moveTo>
                  <a:lnTo>
                    <a:pt x="1446276" y="0"/>
                  </a:lnTo>
                  <a:lnTo>
                    <a:pt x="1446276" y="1735582"/>
                  </a:lnTo>
                  <a:lnTo>
                    <a:pt x="0" y="1735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0" r="4" b="-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316804" y="3803752"/>
            <a:ext cx="14891442" cy="35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Data Cleaning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16804" y="4224490"/>
            <a:ext cx="14891442" cy="324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Python: duplicates, missing values, formatting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79744" y="4907604"/>
            <a:ext cx="1084659" cy="1301648"/>
            <a:chOff x="0" y="0"/>
            <a:chExt cx="1446212" cy="1735531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446276" cy="1735582"/>
            </a:xfrm>
            <a:custGeom>
              <a:avLst/>
              <a:gdLst/>
              <a:ahLst/>
              <a:cxnLst/>
              <a:rect l="l" t="t" r="r" b="b"/>
              <a:pathLst>
                <a:path w="1446276" h="1735582">
                  <a:moveTo>
                    <a:pt x="0" y="0"/>
                  </a:moveTo>
                  <a:lnTo>
                    <a:pt x="1446276" y="0"/>
                  </a:lnTo>
                  <a:lnTo>
                    <a:pt x="1446276" y="1735582"/>
                  </a:lnTo>
                  <a:lnTo>
                    <a:pt x="0" y="1735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0" r="4" b="-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316804" y="5105400"/>
            <a:ext cx="14891442" cy="35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SQL 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16804" y="5526138"/>
            <a:ext cx="14891442" cy="324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Aggregations, KPIs, customer segmentation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79744" y="6209262"/>
            <a:ext cx="1084659" cy="1301648"/>
            <a:chOff x="0" y="0"/>
            <a:chExt cx="1446212" cy="1735531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1446276" cy="1735582"/>
            </a:xfrm>
            <a:custGeom>
              <a:avLst/>
              <a:gdLst/>
              <a:ahLst/>
              <a:cxnLst/>
              <a:rect l="l" t="t" r="r" b="b"/>
              <a:pathLst>
                <a:path w="1446276" h="1735582">
                  <a:moveTo>
                    <a:pt x="0" y="0"/>
                  </a:moveTo>
                  <a:lnTo>
                    <a:pt x="1446276" y="0"/>
                  </a:lnTo>
                  <a:lnTo>
                    <a:pt x="1446276" y="1735582"/>
                  </a:lnTo>
                  <a:lnTo>
                    <a:pt x="0" y="1735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70" r="4" b="-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316804" y="6407048"/>
            <a:ext cx="14891442" cy="35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Power BI Modeling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16804" y="6827787"/>
            <a:ext cx="14891442" cy="324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DAX measures, data relationships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79744" y="7510910"/>
            <a:ext cx="1084659" cy="1301648"/>
            <a:chOff x="0" y="0"/>
            <a:chExt cx="1446212" cy="1735531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1446276" cy="1735582"/>
            </a:xfrm>
            <a:custGeom>
              <a:avLst/>
              <a:gdLst/>
              <a:ahLst/>
              <a:cxnLst/>
              <a:rect l="l" t="t" r="r" b="b"/>
              <a:pathLst>
                <a:path w="1446276" h="1735582">
                  <a:moveTo>
                    <a:pt x="0" y="0"/>
                  </a:moveTo>
                  <a:lnTo>
                    <a:pt x="1446276" y="0"/>
                  </a:lnTo>
                  <a:lnTo>
                    <a:pt x="1446276" y="1735582"/>
                  </a:lnTo>
                  <a:lnTo>
                    <a:pt x="0" y="1735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0" r="4" b="-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316804" y="7708706"/>
            <a:ext cx="14891442" cy="35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Dashboard &amp; Insights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16804" y="8129435"/>
            <a:ext cx="14891442" cy="324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Interactive filters, visualizations, recommendations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9744" y="8955586"/>
            <a:ext cx="17042902" cy="324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Each stage builds on the last — from raw data to cleaned datasets, SQL-driven aggregations, Power BI modeling, and finally actionable business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4982" y="848173"/>
            <a:ext cx="2556720" cy="426844"/>
            <a:chOff x="0" y="0"/>
            <a:chExt cx="3408959" cy="5691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08934" cy="569087"/>
            </a:xfrm>
            <a:custGeom>
              <a:avLst/>
              <a:gdLst/>
              <a:ahLst/>
              <a:cxnLst/>
              <a:rect l="l" t="t" r="r" b="b"/>
              <a:pathLst>
                <a:path w="3408934" h="569087">
                  <a:moveTo>
                    <a:pt x="0" y="125857"/>
                  </a:moveTo>
                  <a:cubicBezTo>
                    <a:pt x="0" y="56388"/>
                    <a:pt x="56388" y="0"/>
                    <a:pt x="125857" y="0"/>
                  </a:cubicBezTo>
                  <a:lnTo>
                    <a:pt x="3283077" y="0"/>
                  </a:lnTo>
                  <a:cubicBezTo>
                    <a:pt x="3352673" y="0"/>
                    <a:pt x="3408934" y="56388"/>
                    <a:pt x="3408934" y="125857"/>
                  </a:cubicBezTo>
                  <a:lnTo>
                    <a:pt x="3408934" y="443230"/>
                  </a:lnTo>
                  <a:cubicBezTo>
                    <a:pt x="3408934" y="512826"/>
                    <a:pt x="3352546" y="569087"/>
                    <a:pt x="3283077" y="569087"/>
                  </a:cubicBezTo>
                  <a:lnTo>
                    <a:pt x="125857" y="569087"/>
                  </a:lnTo>
                  <a:cubicBezTo>
                    <a:pt x="56388" y="569087"/>
                    <a:pt x="0" y="512699"/>
                    <a:pt x="0" y="44323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716" b="-66723"/>
              </a:stretch>
            </a:blipFill>
            <a:ln w="9526" cap="sq">
              <a:solidFill>
                <a:srgbClr val="609D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44498" y="944766"/>
            <a:ext cx="3132087" cy="243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PREPARATION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4" y="1339453"/>
            <a:ext cx="16128502" cy="88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Data Cleaning &amp; Preprocessing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9744" y="2593772"/>
            <a:ext cx="549478" cy="343348"/>
            <a:chOff x="0" y="0"/>
            <a:chExt cx="732638" cy="4577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2632" cy="457795"/>
            </a:xfrm>
            <a:custGeom>
              <a:avLst/>
              <a:gdLst/>
              <a:ahLst/>
              <a:cxnLst/>
              <a:rect l="l" t="t" r="r" b="b"/>
              <a:pathLst>
                <a:path w="732632" h="457795">
                  <a:moveTo>
                    <a:pt x="0" y="0"/>
                  </a:moveTo>
                  <a:lnTo>
                    <a:pt x="732632" y="0"/>
                  </a:lnTo>
                  <a:lnTo>
                    <a:pt x="732632" y="457795"/>
                  </a:lnTo>
                  <a:lnTo>
                    <a:pt x="0" y="4577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2" r="-3017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732638" cy="4673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9744" y="3022549"/>
            <a:ext cx="7941916" cy="38100"/>
            <a:chOff x="0" y="0"/>
            <a:chExt cx="10589222" cy="50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589260" cy="50800"/>
            </a:xfrm>
            <a:custGeom>
              <a:avLst/>
              <a:gdLst/>
              <a:ahLst/>
              <a:cxnLst/>
              <a:rect l="l" t="t" r="r" b="b"/>
              <a:pathLst>
                <a:path w="10589260" h="50800">
                  <a:moveTo>
                    <a:pt x="0" y="0"/>
                  </a:moveTo>
                  <a:lnTo>
                    <a:pt x="10589260" y="0"/>
                  </a:lnTo>
                  <a:lnTo>
                    <a:pt x="105892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79744" y="3226594"/>
            <a:ext cx="7941916" cy="43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Removed Duplicates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9744" y="3745554"/>
            <a:ext cx="7941916" cy="482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Identified and eliminated duplicate booking records.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66339" y="2593772"/>
            <a:ext cx="549478" cy="343348"/>
            <a:chOff x="0" y="0"/>
            <a:chExt cx="732638" cy="4577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32632" cy="457795"/>
            </a:xfrm>
            <a:custGeom>
              <a:avLst/>
              <a:gdLst/>
              <a:ahLst/>
              <a:cxnLst/>
              <a:rect l="l" t="t" r="r" b="b"/>
              <a:pathLst>
                <a:path w="732632" h="457795">
                  <a:moveTo>
                    <a:pt x="0" y="0"/>
                  </a:moveTo>
                  <a:lnTo>
                    <a:pt x="732632" y="0"/>
                  </a:lnTo>
                  <a:lnTo>
                    <a:pt x="732632" y="457795"/>
                  </a:lnTo>
                  <a:lnTo>
                    <a:pt x="0" y="4577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2" r="-3017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732638" cy="4673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66339" y="3022549"/>
            <a:ext cx="7941916" cy="38100"/>
            <a:chOff x="0" y="0"/>
            <a:chExt cx="10589222" cy="50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89260" cy="50800"/>
            </a:xfrm>
            <a:custGeom>
              <a:avLst/>
              <a:gdLst/>
              <a:ahLst/>
              <a:cxnLst/>
              <a:rect l="l" t="t" r="r" b="b"/>
              <a:pathLst>
                <a:path w="10589260" h="50800">
                  <a:moveTo>
                    <a:pt x="0" y="0"/>
                  </a:moveTo>
                  <a:lnTo>
                    <a:pt x="10589260" y="0"/>
                  </a:lnTo>
                  <a:lnTo>
                    <a:pt x="105892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266339" y="3226594"/>
            <a:ext cx="7941916" cy="43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Handled Missing Values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66339" y="3745554"/>
            <a:ext cx="7941916" cy="482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Applied imputation and flagging strategies for null fields.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79744" y="4678413"/>
            <a:ext cx="549478" cy="343348"/>
            <a:chOff x="0" y="0"/>
            <a:chExt cx="732638" cy="45779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32632" cy="457795"/>
            </a:xfrm>
            <a:custGeom>
              <a:avLst/>
              <a:gdLst/>
              <a:ahLst/>
              <a:cxnLst/>
              <a:rect l="l" t="t" r="r" b="b"/>
              <a:pathLst>
                <a:path w="732632" h="457795">
                  <a:moveTo>
                    <a:pt x="0" y="0"/>
                  </a:moveTo>
                  <a:lnTo>
                    <a:pt x="732632" y="0"/>
                  </a:lnTo>
                  <a:lnTo>
                    <a:pt x="732632" y="457795"/>
                  </a:lnTo>
                  <a:lnTo>
                    <a:pt x="0" y="4577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2" r="-3017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732638" cy="4673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79744" y="5107191"/>
            <a:ext cx="7941916" cy="38100"/>
            <a:chOff x="0" y="0"/>
            <a:chExt cx="10589222" cy="50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589260" cy="50800"/>
            </a:xfrm>
            <a:custGeom>
              <a:avLst/>
              <a:gdLst/>
              <a:ahLst/>
              <a:cxnLst/>
              <a:rect l="l" t="t" r="r" b="b"/>
              <a:pathLst>
                <a:path w="10589260" h="50800">
                  <a:moveTo>
                    <a:pt x="0" y="0"/>
                  </a:moveTo>
                  <a:lnTo>
                    <a:pt x="10589260" y="0"/>
                  </a:lnTo>
                  <a:lnTo>
                    <a:pt x="105892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79744" y="5311226"/>
            <a:ext cx="7941916" cy="43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Standardized Data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9744" y="5830195"/>
            <a:ext cx="7941916" cy="897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Unified categorical values and text formatting across columns.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266339" y="4678413"/>
            <a:ext cx="549478" cy="343348"/>
            <a:chOff x="0" y="0"/>
            <a:chExt cx="732638" cy="45779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32632" cy="457795"/>
            </a:xfrm>
            <a:custGeom>
              <a:avLst/>
              <a:gdLst/>
              <a:ahLst/>
              <a:cxnLst/>
              <a:rect l="l" t="t" r="r" b="b"/>
              <a:pathLst>
                <a:path w="732632" h="457795">
                  <a:moveTo>
                    <a:pt x="0" y="0"/>
                  </a:moveTo>
                  <a:lnTo>
                    <a:pt x="732632" y="0"/>
                  </a:lnTo>
                  <a:lnTo>
                    <a:pt x="732632" y="457795"/>
                  </a:lnTo>
                  <a:lnTo>
                    <a:pt x="0" y="4577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2" r="-3017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732638" cy="4673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04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266339" y="5107191"/>
            <a:ext cx="7941916" cy="38100"/>
            <a:chOff x="0" y="0"/>
            <a:chExt cx="10589222" cy="50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589260" cy="50800"/>
            </a:xfrm>
            <a:custGeom>
              <a:avLst/>
              <a:gdLst/>
              <a:ahLst/>
              <a:cxnLst/>
              <a:rect l="l" t="t" r="r" b="b"/>
              <a:pathLst>
                <a:path w="10589260" h="50800">
                  <a:moveTo>
                    <a:pt x="0" y="0"/>
                  </a:moveTo>
                  <a:lnTo>
                    <a:pt x="10589260" y="0"/>
                  </a:lnTo>
                  <a:lnTo>
                    <a:pt x="105892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266339" y="5311226"/>
            <a:ext cx="7941916" cy="43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Converted Data Types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266339" y="5830195"/>
            <a:ext cx="7941916" cy="482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Ensured correct types for dates, numerics, and categories.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079744" y="7178573"/>
            <a:ext cx="549478" cy="343348"/>
            <a:chOff x="0" y="0"/>
            <a:chExt cx="732638" cy="45779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2632" cy="457795"/>
            </a:xfrm>
            <a:custGeom>
              <a:avLst/>
              <a:gdLst/>
              <a:ahLst/>
              <a:cxnLst/>
              <a:rect l="l" t="t" r="r" b="b"/>
              <a:pathLst>
                <a:path w="732632" h="457795">
                  <a:moveTo>
                    <a:pt x="0" y="0"/>
                  </a:moveTo>
                  <a:lnTo>
                    <a:pt x="732632" y="0"/>
                  </a:lnTo>
                  <a:lnTo>
                    <a:pt x="732632" y="457795"/>
                  </a:lnTo>
                  <a:lnTo>
                    <a:pt x="0" y="4577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2" r="-3017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732638" cy="4673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05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79744" y="7607351"/>
            <a:ext cx="7941916" cy="38100"/>
            <a:chOff x="0" y="0"/>
            <a:chExt cx="10589222" cy="50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589260" cy="50800"/>
            </a:xfrm>
            <a:custGeom>
              <a:avLst/>
              <a:gdLst/>
              <a:ahLst/>
              <a:cxnLst/>
              <a:rect l="l" t="t" r="r" b="b"/>
              <a:pathLst>
                <a:path w="10589260" h="50800">
                  <a:moveTo>
                    <a:pt x="0" y="0"/>
                  </a:moveTo>
                  <a:lnTo>
                    <a:pt x="10589260" y="0"/>
                  </a:lnTo>
                  <a:lnTo>
                    <a:pt x="105892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79744" y="7811395"/>
            <a:ext cx="7941916" cy="43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Validated Booking Status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79744" y="8330355"/>
            <a:ext cx="7941916" cy="897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Confirmed consistency across status labels before SQL import.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9266339" y="7178573"/>
            <a:ext cx="549478" cy="343348"/>
            <a:chOff x="0" y="0"/>
            <a:chExt cx="732638" cy="45779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32632" cy="457795"/>
            </a:xfrm>
            <a:custGeom>
              <a:avLst/>
              <a:gdLst/>
              <a:ahLst/>
              <a:cxnLst/>
              <a:rect l="l" t="t" r="r" b="b"/>
              <a:pathLst>
                <a:path w="732632" h="457795">
                  <a:moveTo>
                    <a:pt x="0" y="0"/>
                  </a:moveTo>
                  <a:lnTo>
                    <a:pt x="732632" y="0"/>
                  </a:lnTo>
                  <a:lnTo>
                    <a:pt x="732632" y="457795"/>
                  </a:lnTo>
                  <a:lnTo>
                    <a:pt x="0" y="4577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2" r="-3017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732638" cy="4673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06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266339" y="7607351"/>
            <a:ext cx="7941916" cy="38100"/>
            <a:chOff x="0" y="0"/>
            <a:chExt cx="10589222" cy="50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589260" cy="50800"/>
            </a:xfrm>
            <a:custGeom>
              <a:avLst/>
              <a:gdLst/>
              <a:ahLst/>
              <a:cxnLst/>
              <a:rect l="l" t="t" r="r" b="b"/>
              <a:pathLst>
                <a:path w="10589260" h="50800">
                  <a:moveTo>
                    <a:pt x="0" y="0"/>
                  </a:moveTo>
                  <a:lnTo>
                    <a:pt x="10589260" y="0"/>
                  </a:lnTo>
                  <a:lnTo>
                    <a:pt x="105892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9266339" y="7811395"/>
            <a:ext cx="7941916" cy="43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Imported into Power BI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266339" y="8330355"/>
            <a:ext cx="7941916" cy="897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Loaded clean dataset and established data model relationships.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4982" y="872433"/>
            <a:ext cx="1312669" cy="324298"/>
            <a:chOff x="0" y="0"/>
            <a:chExt cx="1750225" cy="4323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0187" cy="432308"/>
            </a:xfrm>
            <a:custGeom>
              <a:avLst/>
              <a:gdLst/>
              <a:ahLst/>
              <a:cxnLst/>
              <a:rect l="l" t="t" r="r" b="b"/>
              <a:pathLst>
                <a:path w="1750187" h="432308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1654556" y="0"/>
                  </a:lnTo>
                  <a:cubicBezTo>
                    <a:pt x="1707388" y="0"/>
                    <a:pt x="1750187" y="42799"/>
                    <a:pt x="1750187" y="95631"/>
                  </a:cubicBezTo>
                  <a:lnTo>
                    <a:pt x="1750187" y="336677"/>
                  </a:lnTo>
                  <a:cubicBezTo>
                    <a:pt x="1750187" y="389509"/>
                    <a:pt x="1707388" y="432308"/>
                    <a:pt x="1654556" y="432308"/>
                  </a:cubicBezTo>
                  <a:lnTo>
                    <a:pt x="95631" y="432308"/>
                  </a:lnTo>
                  <a:cubicBezTo>
                    <a:pt x="42799" y="432435"/>
                    <a:pt x="0" y="389509"/>
                    <a:pt x="0" y="33667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876" r="-2" b="-28896"/>
              </a:stretch>
            </a:blipFill>
            <a:ln w="9526" cap="sq">
              <a:solidFill>
                <a:srgbClr val="609D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04017" y="948776"/>
            <a:ext cx="1968998" cy="181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300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4" y="1228573"/>
            <a:ext cx="16128502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Power BI Dashboard Overview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9744" y="2260702"/>
            <a:ext cx="9597476" cy="5402609"/>
            <a:chOff x="0" y="0"/>
            <a:chExt cx="12796634" cy="720347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2796647" cy="7203440"/>
            </a:xfrm>
            <a:custGeom>
              <a:avLst/>
              <a:gdLst/>
              <a:ahLst/>
              <a:cxnLst/>
              <a:rect l="l" t="t" r="r" b="b"/>
              <a:pathLst>
                <a:path w="12796647" h="7203440">
                  <a:moveTo>
                    <a:pt x="0" y="0"/>
                  </a:moveTo>
                  <a:lnTo>
                    <a:pt x="12796647" y="0"/>
                  </a:lnTo>
                  <a:lnTo>
                    <a:pt x="12796647" y="7203440"/>
                  </a:lnTo>
                  <a:lnTo>
                    <a:pt x="0" y="720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0" b="-5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901488" y="4388348"/>
            <a:ext cx="5316141" cy="1128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The interactive Power BI dashboard consolidates all key metrics into a single, filterable view — enabling stakeholders to explore booking performance, cancellations, and satisfaction at a glance.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65457" y="7962157"/>
            <a:ext cx="3956304" cy="1461945"/>
            <a:chOff x="0" y="0"/>
            <a:chExt cx="5275072" cy="19492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275072" cy="1949196"/>
            </a:xfrm>
            <a:custGeom>
              <a:avLst/>
              <a:gdLst/>
              <a:ahLst/>
              <a:cxnLst/>
              <a:rect l="l" t="t" r="r" b="b"/>
              <a:pathLst>
                <a:path w="5275072" h="1949196">
                  <a:moveTo>
                    <a:pt x="0" y="118364"/>
                  </a:moveTo>
                  <a:cubicBezTo>
                    <a:pt x="0" y="52959"/>
                    <a:pt x="52959" y="0"/>
                    <a:pt x="118364" y="0"/>
                  </a:cubicBezTo>
                  <a:lnTo>
                    <a:pt x="5156708" y="0"/>
                  </a:lnTo>
                  <a:cubicBezTo>
                    <a:pt x="5222113" y="0"/>
                    <a:pt x="5275072" y="52959"/>
                    <a:pt x="5275072" y="118364"/>
                  </a:cubicBezTo>
                  <a:lnTo>
                    <a:pt x="5275072" y="1830832"/>
                  </a:lnTo>
                  <a:cubicBezTo>
                    <a:pt x="5275072" y="1896237"/>
                    <a:pt x="5222113" y="1949196"/>
                    <a:pt x="5156708" y="1949196"/>
                  </a:cubicBezTo>
                  <a:lnTo>
                    <a:pt x="118364" y="1949196"/>
                  </a:lnTo>
                  <a:cubicBezTo>
                    <a:pt x="52959" y="1949196"/>
                    <a:pt x="0" y="1896237"/>
                    <a:pt x="0" y="1830832"/>
                  </a:cubicBez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28576" cap="sq">
              <a:solidFill>
                <a:srgbClr val="194A99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15488" y="8202663"/>
            <a:ext cx="3456232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KPI Cards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5488" y="8600484"/>
            <a:ext cx="3456232" cy="57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High-level booking and satisfaction metrics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32337" y="7962157"/>
            <a:ext cx="3956304" cy="1461945"/>
            <a:chOff x="0" y="0"/>
            <a:chExt cx="5275072" cy="19492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275072" cy="1949196"/>
            </a:xfrm>
            <a:custGeom>
              <a:avLst/>
              <a:gdLst/>
              <a:ahLst/>
              <a:cxnLst/>
              <a:rect l="l" t="t" r="r" b="b"/>
              <a:pathLst>
                <a:path w="5275072" h="1949196">
                  <a:moveTo>
                    <a:pt x="0" y="118364"/>
                  </a:moveTo>
                  <a:cubicBezTo>
                    <a:pt x="0" y="52959"/>
                    <a:pt x="52959" y="0"/>
                    <a:pt x="118364" y="0"/>
                  </a:cubicBezTo>
                  <a:lnTo>
                    <a:pt x="5156708" y="0"/>
                  </a:lnTo>
                  <a:cubicBezTo>
                    <a:pt x="5222113" y="0"/>
                    <a:pt x="5275072" y="52959"/>
                    <a:pt x="5275072" y="118364"/>
                  </a:cubicBezTo>
                  <a:lnTo>
                    <a:pt x="5275072" y="1830832"/>
                  </a:lnTo>
                  <a:cubicBezTo>
                    <a:pt x="5275072" y="1896237"/>
                    <a:pt x="5222113" y="1949196"/>
                    <a:pt x="5156708" y="1949196"/>
                  </a:cubicBezTo>
                  <a:lnTo>
                    <a:pt x="118364" y="1949196"/>
                  </a:lnTo>
                  <a:cubicBezTo>
                    <a:pt x="52959" y="1949196"/>
                    <a:pt x="0" y="1896237"/>
                    <a:pt x="0" y="1830832"/>
                  </a:cubicBez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28576" cap="sq">
              <a:solidFill>
                <a:srgbClr val="194A99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382368" y="8202663"/>
            <a:ext cx="3456232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Interactive Charts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82368" y="8600484"/>
            <a:ext cx="3456232" cy="57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Trend and comparative visualizations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199216" y="7962157"/>
            <a:ext cx="3956304" cy="1461945"/>
            <a:chOff x="0" y="0"/>
            <a:chExt cx="5275072" cy="19492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75072" cy="1949196"/>
            </a:xfrm>
            <a:custGeom>
              <a:avLst/>
              <a:gdLst/>
              <a:ahLst/>
              <a:cxnLst/>
              <a:rect l="l" t="t" r="r" b="b"/>
              <a:pathLst>
                <a:path w="5275072" h="1949196">
                  <a:moveTo>
                    <a:pt x="0" y="118364"/>
                  </a:moveTo>
                  <a:cubicBezTo>
                    <a:pt x="0" y="52959"/>
                    <a:pt x="52959" y="0"/>
                    <a:pt x="118364" y="0"/>
                  </a:cubicBezTo>
                  <a:lnTo>
                    <a:pt x="5156708" y="0"/>
                  </a:lnTo>
                  <a:cubicBezTo>
                    <a:pt x="5222113" y="0"/>
                    <a:pt x="5275072" y="52959"/>
                    <a:pt x="5275072" y="118364"/>
                  </a:cubicBezTo>
                  <a:lnTo>
                    <a:pt x="5275072" y="1830832"/>
                  </a:lnTo>
                  <a:cubicBezTo>
                    <a:pt x="5275072" y="1896237"/>
                    <a:pt x="5222113" y="1949196"/>
                    <a:pt x="5156708" y="1949196"/>
                  </a:cubicBezTo>
                  <a:lnTo>
                    <a:pt x="118364" y="1949196"/>
                  </a:lnTo>
                  <a:cubicBezTo>
                    <a:pt x="52959" y="1949196"/>
                    <a:pt x="0" y="1896237"/>
                    <a:pt x="0" y="1830832"/>
                  </a:cubicBez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28576" cap="sq">
              <a:solidFill>
                <a:srgbClr val="194A99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449248" y="8202663"/>
            <a:ext cx="3456232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Dynamic Filters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49248" y="8600484"/>
            <a:ext cx="3456232" cy="57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Segment by vehicle, location, or payment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3266096" y="7962157"/>
            <a:ext cx="3956447" cy="1461945"/>
            <a:chOff x="0" y="0"/>
            <a:chExt cx="5275262" cy="19492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275199" cy="1949196"/>
            </a:xfrm>
            <a:custGeom>
              <a:avLst/>
              <a:gdLst/>
              <a:ahLst/>
              <a:cxnLst/>
              <a:rect l="l" t="t" r="r" b="b"/>
              <a:pathLst>
                <a:path w="5275199" h="1949196">
                  <a:moveTo>
                    <a:pt x="0" y="118364"/>
                  </a:moveTo>
                  <a:cubicBezTo>
                    <a:pt x="0" y="52959"/>
                    <a:pt x="52959" y="0"/>
                    <a:pt x="118364" y="0"/>
                  </a:cubicBezTo>
                  <a:lnTo>
                    <a:pt x="5156835" y="0"/>
                  </a:lnTo>
                  <a:cubicBezTo>
                    <a:pt x="5222240" y="0"/>
                    <a:pt x="5275199" y="52959"/>
                    <a:pt x="5275199" y="118364"/>
                  </a:cubicBezTo>
                  <a:lnTo>
                    <a:pt x="5275199" y="1830832"/>
                  </a:lnTo>
                  <a:cubicBezTo>
                    <a:pt x="5275199" y="1896237"/>
                    <a:pt x="5222240" y="1949196"/>
                    <a:pt x="5156835" y="1949196"/>
                  </a:cubicBezTo>
                  <a:lnTo>
                    <a:pt x="118364" y="1949196"/>
                  </a:lnTo>
                  <a:cubicBezTo>
                    <a:pt x="52959" y="1949196"/>
                    <a:pt x="0" y="1896237"/>
                    <a:pt x="0" y="1830832"/>
                  </a:cubicBez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28576" cap="sq">
              <a:solidFill>
                <a:srgbClr val="194A99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3516127" y="8202663"/>
            <a:ext cx="34563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Trend Analysis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516127" y="8600484"/>
            <a:ext cx="3456384" cy="29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Time-series performance tracking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C53DCA9-393A-0F19-4ACC-04354EFED3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56" y="2203567"/>
            <a:ext cx="9812183" cy="56545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4982" y="856507"/>
            <a:ext cx="1612106" cy="353616"/>
            <a:chOff x="0" y="0"/>
            <a:chExt cx="2149475" cy="4714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9475" cy="471424"/>
            </a:xfrm>
            <a:custGeom>
              <a:avLst/>
              <a:gdLst/>
              <a:ahLst/>
              <a:cxnLst/>
              <a:rect l="l" t="t" r="r" b="b"/>
              <a:pathLst>
                <a:path w="2149475" h="471424">
                  <a:moveTo>
                    <a:pt x="0" y="104267"/>
                  </a:moveTo>
                  <a:cubicBezTo>
                    <a:pt x="0" y="46736"/>
                    <a:pt x="46736" y="0"/>
                    <a:pt x="104267" y="0"/>
                  </a:cubicBezTo>
                  <a:lnTo>
                    <a:pt x="2045208" y="0"/>
                  </a:lnTo>
                  <a:cubicBezTo>
                    <a:pt x="2102866" y="0"/>
                    <a:pt x="2149475" y="46736"/>
                    <a:pt x="2149475" y="104267"/>
                  </a:cubicBezTo>
                  <a:lnTo>
                    <a:pt x="2149475" y="367157"/>
                  </a:lnTo>
                  <a:cubicBezTo>
                    <a:pt x="2149475" y="424815"/>
                    <a:pt x="2102739" y="471424"/>
                    <a:pt x="2045208" y="471424"/>
                  </a:cubicBezTo>
                  <a:lnTo>
                    <a:pt x="104267" y="471424"/>
                  </a:lnTo>
                  <a:cubicBezTo>
                    <a:pt x="46736" y="471551"/>
                    <a:pt x="0" y="424815"/>
                    <a:pt x="0" y="36715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35" b="-38849"/>
              </a:stretch>
            </a:blipFill>
            <a:ln w="9526" cap="sq">
              <a:solidFill>
                <a:srgbClr val="609D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15628" y="929135"/>
            <a:ext cx="2245223" cy="20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2"/>
              </a:lnSpc>
            </a:pPr>
            <a:r>
              <a:rPr lang="en-US" sz="1399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KPI SUMMARY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4" y="1262358"/>
            <a:ext cx="16128502" cy="717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Key Performance Indicators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9744" y="2457002"/>
            <a:ext cx="7960223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6"/>
              </a:lnSpc>
            </a:pPr>
            <a:r>
              <a:rPr lang="en-US" sz="5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150K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9744" y="3318862"/>
            <a:ext cx="7960223" cy="363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Total Bookings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9744" y="3753441"/>
            <a:ext cx="7960223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Records analyzed across all vehicle types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47880" y="2457002"/>
            <a:ext cx="7960366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6"/>
              </a:lnSpc>
            </a:pPr>
            <a:r>
              <a:rPr lang="en-US" sz="5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~82%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47880" y="3318862"/>
            <a:ext cx="7960366" cy="363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Booking Success Rate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47880" y="3753441"/>
            <a:ext cx="7960366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Estimated — validate with your dashboard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9744" y="4656534"/>
            <a:ext cx="7960223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6"/>
              </a:lnSpc>
            </a:pPr>
            <a:r>
              <a:rPr lang="en-US" sz="5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~18%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9744" y="5518394"/>
            <a:ext cx="7960223" cy="363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Cancellation Rate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9744" y="5952973"/>
            <a:ext cx="7960223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Estimated — validate with your dashboard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47880" y="4656534"/>
            <a:ext cx="7960366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6"/>
              </a:lnSpc>
            </a:pPr>
            <a:r>
              <a:rPr lang="en-US" sz="5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₹180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47880" y="5518394"/>
            <a:ext cx="7960366" cy="363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Avg. Booking Value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7880" y="5952973"/>
            <a:ext cx="7960366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Estimated — validate with your dashboard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9744" y="6856066"/>
            <a:ext cx="7960223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6"/>
              </a:lnSpc>
            </a:pPr>
            <a:r>
              <a:rPr lang="en-US" sz="5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4.2★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79744" y="7717927"/>
            <a:ext cx="7960223" cy="363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Avg. Customer Rating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9744" y="8152505"/>
            <a:ext cx="7960223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Estimated — validate with your dashboard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47880" y="6856066"/>
            <a:ext cx="7960366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6"/>
              </a:lnSpc>
            </a:pPr>
            <a:r>
              <a:rPr lang="en-US" sz="5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4.4★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47880" y="7717927"/>
            <a:ext cx="7960366" cy="363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Avg. Driver Rating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47880" y="8152505"/>
            <a:ext cx="7960366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Estimated — validate with your dashboard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079744" y="8682333"/>
            <a:ext cx="16128502" cy="743398"/>
            <a:chOff x="0" y="0"/>
            <a:chExt cx="21504669" cy="99119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504656" cy="991235"/>
            </a:xfrm>
            <a:custGeom>
              <a:avLst/>
              <a:gdLst/>
              <a:ahLst/>
              <a:cxnLst/>
              <a:rect l="l" t="t" r="r" b="b"/>
              <a:pathLst>
                <a:path w="21504656" h="991235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21377783" y="0"/>
                  </a:lnTo>
                  <a:cubicBezTo>
                    <a:pt x="21447888" y="0"/>
                    <a:pt x="21504656" y="56769"/>
                    <a:pt x="21504656" y="126873"/>
                  </a:cubicBezTo>
                  <a:lnTo>
                    <a:pt x="21504656" y="864362"/>
                  </a:lnTo>
                  <a:cubicBezTo>
                    <a:pt x="21504656" y="934466"/>
                    <a:pt x="21447888" y="991235"/>
                    <a:pt x="21377783" y="991235"/>
                  </a:cubicBezTo>
                  <a:lnTo>
                    <a:pt x="126873" y="991235"/>
                  </a:lnTo>
                  <a:cubicBezTo>
                    <a:pt x="56769" y="991235"/>
                    <a:pt x="0" y="934339"/>
                    <a:pt x="0" y="864362"/>
                  </a:cubicBezTo>
                  <a:close/>
                </a:path>
              </a:pathLst>
            </a:custGeom>
            <a:solidFill>
              <a:srgbClr val="00318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06268" y="8976722"/>
            <a:ext cx="283216" cy="226514"/>
            <a:chOff x="0" y="0"/>
            <a:chExt cx="377622" cy="302019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377571" cy="302006"/>
            </a:xfrm>
            <a:custGeom>
              <a:avLst/>
              <a:gdLst/>
              <a:ahLst/>
              <a:cxnLst/>
              <a:rect l="l" t="t" r="r" b="b"/>
              <a:pathLst>
                <a:path w="377571" h="302006">
                  <a:moveTo>
                    <a:pt x="0" y="0"/>
                  </a:moveTo>
                  <a:lnTo>
                    <a:pt x="377571" y="0"/>
                  </a:lnTo>
                  <a:lnTo>
                    <a:pt x="377571" y="302006"/>
                  </a:lnTo>
                  <a:lnTo>
                    <a:pt x="0" y="302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" r="-13" b="-2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815998" y="8876709"/>
            <a:ext cx="16080134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All KPI values are illustrative — replace with your actual dashboard figures before presenting.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4982" y="843705"/>
            <a:ext cx="795938" cy="243630"/>
            <a:chOff x="0" y="0"/>
            <a:chExt cx="1061250" cy="3248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1212" cy="324739"/>
            </a:xfrm>
            <a:custGeom>
              <a:avLst/>
              <a:gdLst/>
              <a:ahLst/>
              <a:cxnLst/>
              <a:rect l="l" t="t" r="r" b="b"/>
              <a:pathLst>
                <a:path w="1061212" h="324739">
                  <a:moveTo>
                    <a:pt x="0" y="71882"/>
                  </a:moveTo>
                  <a:cubicBezTo>
                    <a:pt x="0" y="32258"/>
                    <a:pt x="32258" y="0"/>
                    <a:pt x="71882" y="0"/>
                  </a:cubicBezTo>
                  <a:lnTo>
                    <a:pt x="989330" y="0"/>
                  </a:lnTo>
                  <a:cubicBezTo>
                    <a:pt x="1029081" y="0"/>
                    <a:pt x="1061212" y="32258"/>
                    <a:pt x="1061212" y="71882"/>
                  </a:cubicBezTo>
                  <a:lnTo>
                    <a:pt x="1061212" y="252857"/>
                  </a:lnTo>
                  <a:cubicBezTo>
                    <a:pt x="1061212" y="292608"/>
                    <a:pt x="1028954" y="324739"/>
                    <a:pt x="989330" y="324739"/>
                  </a:cubicBezTo>
                  <a:lnTo>
                    <a:pt x="71882" y="324739"/>
                  </a:lnTo>
                  <a:cubicBezTo>
                    <a:pt x="32258" y="324866"/>
                    <a:pt x="0" y="292608"/>
                    <a:pt x="0" y="25285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61" r="-3" b="-13692"/>
              </a:stretch>
            </a:blipFill>
            <a:ln w="9526" cap="sq">
              <a:solidFill>
                <a:srgbClr val="609D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72166" y="894607"/>
            <a:ext cx="1515961" cy="141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6"/>
              </a:lnSpc>
            </a:pPr>
            <a:r>
              <a:rPr lang="en-US" sz="900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4" y="1103862"/>
            <a:ext cx="16128502" cy="49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Key Business Insights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9744" y="1797691"/>
            <a:ext cx="7876137" cy="7876137"/>
            <a:chOff x="0" y="0"/>
            <a:chExt cx="10501516" cy="10501516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0501503" cy="10501503"/>
            </a:xfrm>
            <a:custGeom>
              <a:avLst/>
              <a:gdLst/>
              <a:ahLst/>
              <a:cxnLst/>
              <a:rect l="l" t="t" r="r" b="b"/>
              <a:pathLst>
                <a:path w="10501503" h="10501503">
                  <a:moveTo>
                    <a:pt x="0" y="0"/>
                  </a:moveTo>
                  <a:lnTo>
                    <a:pt x="10501503" y="0"/>
                  </a:lnTo>
                  <a:lnTo>
                    <a:pt x="10501503" y="10501503"/>
                  </a:lnTo>
                  <a:lnTo>
                    <a:pt x="0" y="10501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341644" y="4170912"/>
            <a:ext cx="7876137" cy="370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Three interconnected themes emerged from the analysis, each pointing to specific areas for operational improvement and customer experience enhancement.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41644" y="4618282"/>
            <a:ext cx="7876137" cy="24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Behavior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41644" y="4936484"/>
            <a:ext cx="7876137" cy="60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9560" lvl="1" indent="-144780" algn="l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Majority of bookings completed successfully</a:t>
            </a:r>
          </a:p>
          <a:p>
            <a:pPr marL="289560" lvl="1" indent="-144780" algn="l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UPI emerged as the most preferred payment method</a:t>
            </a:r>
          </a:p>
          <a:p>
            <a:pPr marL="289560" lvl="1" indent="-144780" algn="l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Premium vehicle categories generated higher booking values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41644" y="5622874"/>
            <a:ext cx="7876137" cy="24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Ride Performance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41644" y="5941066"/>
            <a:ext cx="7876137" cy="60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9560" lvl="1" indent="-144780" algn="l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Average ride distance remained stable</a:t>
            </a:r>
          </a:p>
          <a:p>
            <a:pPr marL="289560" lvl="1" indent="-144780" algn="l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ratings were consistently high</a:t>
            </a:r>
          </a:p>
          <a:p>
            <a:pPr marL="289560" lvl="1" indent="-144780" algn="l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Driver ratings reflect strong overall service quality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41644" y="6627466"/>
            <a:ext cx="7876137" cy="24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Operational Insights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41644" y="6945659"/>
            <a:ext cx="7876137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9560" lvl="1" indent="-144780" algn="l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Driver cancellations contributed significantly to unsuccessful rides</a:t>
            </a:r>
          </a:p>
          <a:p>
            <a:pPr marL="289560" lvl="1" indent="-144780" algn="l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cancellations mainly driven by wait times and personal reasons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4982" y="910238"/>
            <a:ext cx="2011118" cy="324298"/>
            <a:chOff x="0" y="0"/>
            <a:chExt cx="2681491" cy="4323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81478" cy="432308"/>
            </a:xfrm>
            <a:custGeom>
              <a:avLst/>
              <a:gdLst/>
              <a:ahLst/>
              <a:cxnLst/>
              <a:rect l="l" t="t" r="r" b="b"/>
              <a:pathLst>
                <a:path w="2681478" h="432308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2585847" y="0"/>
                  </a:lnTo>
                  <a:cubicBezTo>
                    <a:pt x="2638679" y="0"/>
                    <a:pt x="2681478" y="42799"/>
                    <a:pt x="2681478" y="95631"/>
                  </a:cubicBezTo>
                  <a:lnTo>
                    <a:pt x="2681478" y="336677"/>
                  </a:lnTo>
                  <a:cubicBezTo>
                    <a:pt x="2681478" y="389509"/>
                    <a:pt x="2638679" y="432308"/>
                    <a:pt x="2585847" y="432308"/>
                  </a:cubicBezTo>
                  <a:lnTo>
                    <a:pt x="95631" y="432308"/>
                  </a:lnTo>
                  <a:cubicBezTo>
                    <a:pt x="42799" y="432435"/>
                    <a:pt x="0" y="389509"/>
                    <a:pt x="0" y="336677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0850" b="-70870"/>
              </a:stretch>
            </a:blipFill>
            <a:ln w="9526" cap="sq">
              <a:solidFill>
                <a:srgbClr val="609D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04017" y="986580"/>
            <a:ext cx="2667448" cy="181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300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RECOMMENDATIONS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9744" y="1266377"/>
            <a:ext cx="9270502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Recommendations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079744" y="2141934"/>
            <a:ext cx="9270502" cy="1433360"/>
          </a:xfrm>
          <a:custGeom>
            <a:avLst/>
            <a:gdLst/>
            <a:ahLst/>
            <a:cxnLst/>
            <a:rect l="l" t="t" r="r" b="b"/>
            <a:pathLst>
              <a:path w="9270502" h="1433360">
                <a:moveTo>
                  <a:pt x="0" y="0"/>
                </a:moveTo>
                <a:lnTo>
                  <a:pt x="9270502" y="0"/>
                </a:lnTo>
                <a:lnTo>
                  <a:pt x="9270502" y="1433360"/>
                </a:lnTo>
                <a:lnTo>
                  <a:pt x="0" y="1433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34" b="-13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1362666" y="2664323"/>
            <a:ext cx="310906" cy="388591"/>
            <a:chOff x="0" y="0"/>
            <a:chExt cx="414541" cy="51812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4536" cy="518120"/>
            </a:xfrm>
            <a:custGeom>
              <a:avLst/>
              <a:gdLst/>
              <a:ahLst/>
              <a:cxnLst/>
              <a:rect l="l" t="t" r="r" b="b"/>
              <a:pathLst>
                <a:path w="414536" h="518120">
                  <a:moveTo>
                    <a:pt x="0" y="0"/>
                  </a:moveTo>
                  <a:lnTo>
                    <a:pt x="414536" y="0"/>
                  </a:lnTo>
                  <a:lnTo>
                    <a:pt x="414536" y="518120"/>
                  </a:lnTo>
                  <a:lnTo>
                    <a:pt x="0" y="5181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64" r="-11036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14541" cy="51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1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076602" y="2368153"/>
            <a:ext cx="8037909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Reduce Cancellations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76602" y="2765974"/>
            <a:ext cx="8037909" cy="57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Improve driver allocation algorithms and introduce real-time tracking to minimize wait times.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1079744" y="3714455"/>
            <a:ext cx="9270502" cy="1433360"/>
          </a:xfrm>
          <a:custGeom>
            <a:avLst/>
            <a:gdLst/>
            <a:ahLst/>
            <a:cxnLst/>
            <a:rect l="l" t="t" r="r" b="b"/>
            <a:pathLst>
              <a:path w="9270502" h="1433360">
                <a:moveTo>
                  <a:pt x="0" y="0"/>
                </a:moveTo>
                <a:lnTo>
                  <a:pt x="9270502" y="0"/>
                </a:lnTo>
                <a:lnTo>
                  <a:pt x="9270502" y="1433360"/>
                </a:lnTo>
                <a:lnTo>
                  <a:pt x="0" y="1433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34" b="-13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1362666" y="4236844"/>
            <a:ext cx="310906" cy="388591"/>
            <a:chOff x="0" y="0"/>
            <a:chExt cx="414541" cy="51812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14536" cy="518120"/>
            </a:xfrm>
            <a:custGeom>
              <a:avLst/>
              <a:gdLst/>
              <a:ahLst/>
              <a:cxnLst/>
              <a:rect l="l" t="t" r="r" b="b"/>
              <a:pathLst>
                <a:path w="414536" h="518120">
                  <a:moveTo>
                    <a:pt x="0" y="0"/>
                  </a:moveTo>
                  <a:lnTo>
                    <a:pt x="414536" y="0"/>
                  </a:lnTo>
                  <a:lnTo>
                    <a:pt x="414536" y="518120"/>
                  </a:lnTo>
                  <a:lnTo>
                    <a:pt x="0" y="5181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64" r="-11036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414541" cy="51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2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076602" y="3940673"/>
            <a:ext cx="8037909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Enhance Payment Experience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6602" y="4338485"/>
            <a:ext cx="8037909" cy="57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Promote UPI and digital wallets through incentives; streamline cash payment processes.</a:t>
            </a:r>
          </a:p>
        </p:txBody>
      </p:sp>
      <p:sp>
        <p:nvSpPr>
          <p:cNvPr id="26" name="Freeform 26" descr="preencoded.png"/>
          <p:cNvSpPr/>
          <p:nvPr/>
        </p:nvSpPr>
        <p:spPr>
          <a:xfrm>
            <a:off x="1079744" y="5286966"/>
            <a:ext cx="9270502" cy="1433360"/>
          </a:xfrm>
          <a:custGeom>
            <a:avLst/>
            <a:gdLst/>
            <a:ahLst/>
            <a:cxnLst/>
            <a:rect l="l" t="t" r="r" b="b"/>
            <a:pathLst>
              <a:path w="9270502" h="1433360">
                <a:moveTo>
                  <a:pt x="0" y="0"/>
                </a:moveTo>
                <a:lnTo>
                  <a:pt x="9270502" y="0"/>
                </a:lnTo>
                <a:lnTo>
                  <a:pt x="9270502" y="1433360"/>
                </a:lnTo>
                <a:lnTo>
                  <a:pt x="0" y="1433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34" b="-13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7" name="Group 27"/>
          <p:cNvGrpSpPr/>
          <p:nvPr/>
        </p:nvGrpSpPr>
        <p:grpSpPr>
          <a:xfrm>
            <a:off x="1362666" y="5809355"/>
            <a:ext cx="310906" cy="388591"/>
            <a:chOff x="0" y="0"/>
            <a:chExt cx="414541" cy="51812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4536" cy="518120"/>
            </a:xfrm>
            <a:custGeom>
              <a:avLst/>
              <a:gdLst/>
              <a:ahLst/>
              <a:cxnLst/>
              <a:rect l="l" t="t" r="r" b="b"/>
              <a:pathLst>
                <a:path w="414536" h="518120">
                  <a:moveTo>
                    <a:pt x="0" y="0"/>
                  </a:moveTo>
                  <a:lnTo>
                    <a:pt x="414536" y="0"/>
                  </a:lnTo>
                  <a:lnTo>
                    <a:pt x="414536" y="518120"/>
                  </a:lnTo>
                  <a:lnTo>
                    <a:pt x="0" y="5181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64" r="-11036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414541" cy="51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3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076602" y="5513184"/>
            <a:ext cx="8037909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Boost Driver Quality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76602" y="5911005"/>
            <a:ext cx="8037909" cy="57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 driver training programs and performance-based incentives to improve ratings.</a:t>
            </a:r>
          </a:p>
        </p:txBody>
      </p:sp>
      <p:sp>
        <p:nvSpPr>
          <p:cNvPr id="32" name="Freeform 32" descr="preencoded.png"/>
          <p:cNvSpPr/>
          <p:nvPr/>
        </p:nvSpPr>
        <p:spPr>
          <a:xfrm>
            <a:off x="1079744" y="6859486"/>
            <a:ext cx="9270502" cy="1433360"/>
          </a:xfrm>
          <a:custGeom>
            <a:avLst/>
            <a:gdLst/>
            <a:ahLst/>
            <a:cxnLst/>
            <a:rect l="l" t="t" r="r" b="b"/>
            <a:pathLst>
              <a:path w="9270502" h="1433360">
                <a:moveTo>
                  <a:pt x="0" y="0"/>
                </a:moveTo>
                <a:lnTo>
                  <a:pt x="9270502" y="0"/>
                </a:lnTo>
                <a:lnTo>
                  <a:pt x="9270502" y="1433360"/>
                </a:lnTo>
                <a:lnTo>
                  <a:pt x="0" y="1433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34" b="-13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3" name="Group 33"/>
          <p:cNvGrpSpPr/>
          <p:nvPr/>
        </p:nvGrpSpPr>
        <p:grpSpPr>
          <a:xfrm>
            <a:off x="1362666" y="7381875"/>
            <a:ext cx="310906" cy="388591"/>
            <a:chOff x="0" y="0"/>
            <a:chExt cx="414541" cy="51812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14536" cy="518120"/>
            </a:xfrm>
            <a:custGeom>
              <a:avLst/>
              <a:gdLst/>
              <a:ahLst/>
              <a:cxnLst/>
              <a:rect l="l" t="t" r="r" b="b"/>
              <a:pathLst>
                <a:path w="414536" h="518120">
                  <a:moveTo>
                    <a:pt x="0" y="0"/>
                  </a:moveTo>
                  <a:lnTo>
                    <a:pt x="414536" y="0"/>
                  </a:lnTo>
                  <a:lnTo>
                    <a:pt x="414536" y="518120"/>
                  </a:lnTo>
                  <a:lnTo>
                    <a:pt x="0" y="5181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64" r="-11036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414541" cy="51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4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076602" y="7085705"/>
            <a:ext cx="8037909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Retention Programs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76602" y="7483526"/>
            <a:ext cx="8037909" cy="57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Launch loyalty rewards and personalized offers for high-frequency users to reduce churn.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079744" y="8449418"/>
            <a:ext cx="9270502" cy="922582"/>
            <a:chOff x="0" y="0"/>
            <a:chExt cx="12360669" cy="123010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360656" cy="1230122"/>
            </a:xfrm>
            <a:custGeom>
              <a:avLst/>
              <a:gdLst/>
              <a:ahLst/>
              <a:cxnLst/>
              <a:rect l="l" t="t" r="r" b="b"/>
              <a:pathLst>
                <a:path w="12360656" h="1230122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lnTo>
                    <a:pt x="12244578" y="0"/>
                  </a:lnTo>
                  <a:cubicBezTo>
                    <a:pt x="12308713" y="0"/>
                    <a:pt x="12360656" y="51943"/>
                    <a:pt x="12360656" y="116078"/>
                  </a:cubicBezTo>
                  <a:lnTo>
                    <a:pt x="12360656" y="1114044"/>
                  </a:lnTo>
                  <a:cubicBezTo>
                    <a:pt x="12360656" y="1178179"/>
                    <a:pt x="12308713" y="1230122"/>
                    <a:pt x="12244578" y="1230122"/>
                  </a:cubicBezTo>
                  <a:lnTo>
                    <a:pt x="116078" y="1230122"/>
                  </a:lnTo>
                  <a:cubicBezTo>
                    <a:pt x="51943" y="1230122"/>
                    <a:pt x="0" y="1178179"/>
                    <a:pt x="0" y="1114044"/>
                  </a:cubicBezTo>
                  <a:close/>
                </a:path>
              </a:pathLst>
            </a:custGeom>
            <a:solidFill>
              <a:srgbClr val="00318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86913" y="8717604"/>
            <a:ext cx="259109" cy="207169"/>
            <a:chOff x="0" y="0"/>
            <a:chExt cx="345478" cy="276225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345440" cy="276225"/>
            </a:xfrm>
            <a:custGeom>
              <a:avLst/>
              <a:gdLst/>
              <a:ahLst/>
              <a:cxnLst/>
              <a:rect l="l" t="t" r="r" b="b"/>
              <a:pathLst>
                <a:path w="345440" h="276225">
                  <a:moveTo>
                    <a:pt x="0" y="0"/>
                  </a:moveTo>
                  <a:lnTo>
                    <a:pt x="345440" y="0"/>
                  </a:lnTo>
                  <a:lnTo>
                    <a:pt x="345440" y="276225"/>
                  </a:lnTo>
                  <a:lnTo>
                    <a:pt x="0" y="276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878" r="-89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753200" y="8621316"/>
            <a:ext cx="8389887" cy="57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These recommendations are grounded in the data analysis and can be prioritized based on implementation effort and expected business impact.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0B33-1445-225F-67E9-6A212FCAE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2820574-1A8F-BFD3-1466-F02A98123F84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67BAED9D-4737-35EE-0C8A-3591FC7F0591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6965F5D-845A-03AF-0C9D-F84C1B732CBE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28A392C-ADAD-F2E8-4F33-86CA21CDABB8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5C3CBCDA-C915-32AD-A077-CC8A707D3A76}"/>
              </a:ext>
            </a:extLst>
          </p:cNvPr>
          <p:cNvSpPr txBox="1"/>
          <p:nvPr/>
        </p:nvSpPr>
        <p:spPr>
          <a:xfrm>
            <a:off x="1902565" y="5214637"/>
            <a:ext cx="6519544" cy="145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75"/>
              </a:lnSpc>
            </a:pPr>
            <a:r>
              <a:rPr lang="en-US" sz="4197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&amp;</a:t>
            </a:r>
          </a:p>
          <a:p>
            <a:pPr marL="0" lvl="0" indent="0" algn="l">
              <a:lnSpc>
                <a:spcPts val="5875"/>
              </a:lnSpc>
            </a:pPr>
            <a:r>
              <a:rPr lang="en-US" sz="4197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Questions</a:t>
            </a:r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7C6698E2-59DD-C41B-551E-6A740F57227D}"/>
              </a:ext>
            </a:extLst>
          </p:cNvPr>
          <p:cNvSpPr/>
          <p:nvPr/>
        </p:nvSpPr>
        <p:spPr>
          <a:xfrm rot="5400000">
            <a:off x="1347292" y="413497"/>
            <a:ext cx="592749" cy="3254855"/>
          </a:xfrm>
          <a:custGeom>
            <a:avLst/>
            <a:gdLst/>
            <a:ahLst/>
            <a:cxnLst/>
            <a:rect l="l" t="t" r="r" b="b"/>
            <a:pathLst>
              <a:path w="592749" h="3790837">
                <a:moveTo>
                  <a:pt x="0" y="0"/>
                </a:moveTo>
                <a:lnTo>
                  <a:pt x="592750" y="0"/>
                </a:lnTo>
                <a:lnTo>
                  <a:pt x="592750" y="3790837"/>
                </a:lnTo>
                <a:lnTo>
                  <a:pt x="0" y="37908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9F092C93-AA3A-145B-894B-AF55CAD9983D}"/>
              </a:ext>
            </a:extLst>
          </p:cNvPr>
          <p:cNvSpPr/>
          <p:nvPr/>
        </p:nvSpPr>
        <p:spPr>
          <a:xfrm>
            <a:off x="3031975" y="1744550"/>
            <a:ext cx="3254855" cy="2398708"/>
          </a:xfrm>
          <a:custGeom>
            <a:avLst/>
            <a:gdLst/>
            <a:ahLst/>
            <a:cxnLst/>
            <a:rect l="l" t="t" r="r" b="b"/>
            <a:pathLst>
              <a:path w="2999498" h="2398708">
                <a:moveTo>
                  <a:pt x="0" y="0"/>
                </a:moveTo>
                <a:lnTo>
                  <a:pt x="2999498" y="0"/>
                </a:lnTo>
                <a:lnTo>
                  <a:pt x="2999498" y="2398708"/>
                </a:lnTo>
                <a:lnTo>
                  <a:pt x="0" y="2398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C27B2312-4148-BC91-BD58-8A769B7C06E8}"/>
              </a:ext>
            </a:extLst>
          </p:cNvPr>
          <p:cNvSpPr/>
          <p:nvPr/>
        </p:nvSpPr>
        <p:spPr>
          <a:xfrm>
            <a:off x="5066225" y="3544795"/>
            <a:ext cx="2999498" cy="2398708"/>
          </a:xfrm>
          <a:custGeom>
            <a:avLst/>
            <a:gdLst/>
            <a:ahLst/>
            <a:cxnLst/>
            <a:rect l="l" t="t" r="r" b="b"/>
            <a:pathLst>
              <a:path w="2999498" h="2398708">
                <a:moveTo>
                  <a:pt x="0" y="0"/>
                </a:moveTo>
                <a:lnTo>
                  <a:pt x="2999499" y="0"/>
                </a:lnTo>
                <a:lnTo>
                  <a:pt x="2999499" y="2398709"/>
                </a:lnTo>
                <a:lnTo>
                  <a:pt x="0" y="2398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">
            <a:extLst>
              <a:ext uri="{FF2B5EF4-FFF2-40B4-BE49-F238E27FC236}">
                <a16:creationId xmlns:a16="http://schemas.microsoft.com/office/drawing/2014/main" id="{74D00CAD-FF39-376E-0A05-568D71EA3E8E}"/>
              </a:ext>
            </a:extLst>
          </p:cNvPr>
          <p:cNvSpPr/>
          <p:nvPr/>
        </p:nvSpPr>
        <p:spPr>
          <a:xfrm>
            <a:off x="6856448" y="5343922"/>
            <a:ext cx="2999498" cy="2398708"/>
          </a:xfrm>
          <a:custGeom>
            <a:avLst/>
            <a:gdLst/>
            <a:ahLst/>
            <a:cxnLst/>
            <a:rect l="l" t="t" r="r" b="b"/>
            <a:pathLst>
              <a:path w="2999498" h="2398708">
                <a:moveTo>
                  <a:pt x="0" y="0"/>
                </a:moveTo>
                <a:lnTo>
                  <a:pt x="2999498" y="0"/>
                </a:lnTo>
                <a:lnTo>
                  <a:pt x="2999498" y="2398709"/>
                </a:lnTo>
                <a:lnTo>
                  <a:pt x="0" y="2398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4">
            <a:extLst>
              <a:ext uri="{FF2B5EF4-FFF2-40B4-BE49-F238E27FC236}">
                <a16:creationId xmlns:a16="http://schemas.microsoft.com/office/drawing/2014/main" id="{9742EB82-A3C5-14FD-586F-1C14B6143980}"/>
              </a:ext>
            </a:extLst>
          </p:cNvPr>
          <p:cNvSpPr/>
          <p:nvPr/>
        </p:nvSpPr>
        <p:spPr>
          <a:xfrm flipH="1">
            <a:off x="8675674" y="7139235"/>
            <a:ext cx="2436744" cy="2436744"/>
          </a:xfrm>
          <a:custGeom>
            <a:avLst/>
            <a:gdLst/>
            <a:ahLst/>
            <a:cxnLst/>
            <a:rect l="l" t="t" r="r" b="b"/>
            <a:pathLst>
              <a:path w="2436744" h="2436744">
                <a:moveTo>
                  <a:pt x="2436744" y="0"/>
                </a:moveTo>
                <a:lnTo>
                  <a:pt x="0" y="0"/>
                </a:lnTo>
                <a:lnTo>
                  <a:pt x="0" y="2436744"/>
                </a:lnTo>
                <a:lnTo>
                  <a:pt x="2436744" y="2436744"/>
                </a:lnTo>
                <a:lnTo>
                  <a:pt x="24367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6">
            <a:extLst>
              <a:ext uri="{FF2B5EF4-FFF2-40B4-BE49-F238E27FC236}">
                <a16:creationId xmlns:a16="http://schemas.microsoft.com/office/drawing/2014/main" id="{309AE31E-E287-BE99-05C8-14F703C28CD2}"/>
              </a:ext>
            </a:extLst>
          </p:cNvPr>
          <p:cNvSpPr/>
          <p:nvPr/>
        </p:nvSpPr>
        <p:spPr>
          <a:xfrm>
            <a:off x="10519669" y="7722018"/>
            <a:ext cx="592749" cy="2564982"/>
          </a:xfrm>
          <a:custGeom>
            <a:avLst/>
            <a:gdLst/>
            <a:ahLst/>
            <a:cxnLst/>
            <a:rect l="l" t="t" r="r" b="b"/>
            <a:pathLst>
              <a:path w="592749" h="3790837">
                <a:moveTo>
                  <a:pt x="0" y="0"/>
                </a:moveTo>
                <a:lnTo>
                  <a:pt x="592750" y="0"/>
                </a:lnTo>
                <a:lnTo>
                  <a:pt x="592750" y="3790837"/>
                </a:lnTo>
                <a:lnTo>
                  <a:pt x="0" y="37908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E65AE7-BD57-0099-087B-6C76658A7AAE}"/>
              </a:ext>
            </a:extLst>
          </p:cNvPr>
          <p:cNvSpPr txBox="1"/>
          <p:nvPr/>
        </p:nvSpPr>
        <p:spPr>
          <a:xfrm>
            <a:off x="6087626" y="1377214"/>
            <a:ext cx="9383842" cy="1920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for Your Attention</a:t>
            </a:r>
          </a:p>
          <a:p>
            <a:pPr marL="0" lvl="0" indent="0" algn="l">
              <a:lnSpc>
                <a:spcPts val="2937"/>
              </a:lnSpc>
            </a:pPr>
            <a:endParaRPr lang="en-US" sz="2098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>
              <a:lnSpc>
                <a:spcPts val="2937"/>
              </a:lnSpc>
            </a:pPr>
            <a:r>
              <a:rPr lang="en-US" sz="20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We appreciate your time exploring this Customer Shopping Behavior Analysis project covering Python EDA, SQL queries, and Power BI dashboards.</a:t>
            </a:r>
          </a:p>
          <a:p>
            <a:pPr marL="0" lvl="0" indent="0" algn="l">
              <a:lnSpc>
                <a:spcPts val="2937"/>
              </a:lnSpc>
            </a:pPr>
            <a:endParaRPr lang="en-US" sz="2098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7AE6A8-B672-5EBA-0E00-6D2817D5FBB1}"/>
              </a:ext>
            </a:extLst>
          </p:cNvPr>
          <p:cNvSpPr txBox="1"/>
          <p:nvPr/>
        </p:nvSpPr>
        <p:spPr>
          <a:xfrm>
            <a:off x="8332463" y="3568513"/>
            <a:ext cx="9383842" cy="1920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Questions &amp; Discussion</a:t>
            </a:r>
          </a:p>
          <a:p>
            <a:pPr marL="0" lvl="0" indent="0" algn="l">
              <a:lnSpc>
                <a:spcPts val="2937"/>
              </a:lnSpc>
            </a:pPr>
            <a:endParaRPr lang="en-US" sz="2098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>
              <a:lnSpc>
                <a:spcPts val="2937"/>
              </a:lnSpc>
            </a:pPr>
            <a:r>
              <a:rPr lang="en-US" sz="20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We welcome your questions, feedback, and insights. Let's discuss findings, methodology, or potential next steps together.</a:t>
            </a:r>
          </a:p>
          <a:p>
            <a:pPr marL="0" lvl="0" indent="0" algn="l">
              <a:lnSpc>
                <a:spcPts val="2937"/>
              </a:lnSpc>
            </a:pPr>
            <a:endParaRPr lang="en-US" sz="2098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4407D8-7229-CFC2-E43F-DFC9A14749D9}"/>
              </a:ext>
            </a:extLst>
          </p:cNvPr>
          <p:cNvSpPr txBox="1"/>
          <p:nvPr/>
        </p:nvSpPr>
        <p:spPr>
          <a:xfrm>
            <a:off x="10064996" y="5655571"/>
            <a:ext cx="9383842" cy="1920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Get in Touch</a:t>
            </a:r>
          </a:p>
          <a:p>
            <a:pPr marL="0" lvl="0" indent="0" algn="l">
              <a:lnSpc>
                <a:spcPts val="2937"/>
              </a:lnSpc>
            </a:pPr>
            <a:endParaRPr lang="en-US" sz="20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>
              <a:lnSpc>
                <a:spcPts val="2937"/>
              </a:lnSpc>
            </a:pPr>
            <a:r>
              <a:rPr lang="en-US" sz="20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Feel free to reach out for further details on the analysis, dataset, or dashboard. Open to collaboration and continued data exploration.</a:t>
            </a:r>
          </a:p>
          <a:p>
            <a:pPr marL="0" lvl="0" indent="0" algn="l">
              <a:lnSpc>
                <a:spcPts val="2937"/>
              </a:lnSpc>
            </a:pPr>
            <a:endParaRPr lang="en-US" sz="2098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876FC9F-9B19-3A83-6645-22C6851D320C}"/>
              </a:ext>
            </a:extLst>
          </p:cNvPr>
          <p:cNvSpPr/>
          <p:nvPr/>
        </p:nvSpPr>
        <p:spPr>
          <a:xfrm>
            <a:off x="5076218" y="1549932"/>
            <a:ext cx="920996" cy="9223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131E455-C921-E3BA-E029-25A4AE103DFA}"/>
              </a:ext>
            </a:extLst>
          </p:cNvPr>
          <p:cNvSpPr/>
          <p:nvPr/>
        </p:nvSpPr>
        <p:spPr>
          <a:xfrm>
            <a:off x="7205225" y="3770252"/>
            <a:ext cx="920996" cy="9223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6A87AC-811F-144F-865E-DB0485E31A4F}"/>
              </a:ext>
            </a:extLst>
          </p:cNvPr>
          <p:cNvSpPr/>
          <p:nvPr/>
        </p:nvSpPr>
        <p:spPr>
          <a:xfrm>
            <a:off x="9039475" y="5852762"/>
            <a:ext cx="920996" cy="9223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Freeform 19">
            <a:extLst>
              <a:ext uri="{FF2B5EF4-FFF2-40B4-BE49-F238E27FC236}">
                <a16:creationId xmlns:a16="http://schemas.microsoft.com/office/drawing/2014/main" id="{6967A6B1-88CF-BD6D-CA14-82DA1BEDF0AA}"/>
              </a:ext>
            </a:extLst>
          </p:cNvPr>
          <p:cNvSpPr/>
          <p:nvPr/>
        </p:nvSpPr>
        <p:spPr>
          <a:xfrm>
            <a:off x="9259360" y="6066426"/>
            <a:ext cx="481225" cy="476850"/>
          </a:xfrm>
          <a:custGeom>
            <a:avLst/>
            <a:gdLst/>
            <a:ahLst/>
            <a:cxnLst/>
            <a:rect l="l" t="t" r="r" b="b"/>
            <a:pathLst>
              <a:path w="481225" h="476850">
                <a:moveTo>
                  <a:pt x="0" y="0"/>
                </a:moveTo>
                <a:lnTo>
                  <a:pt x="481224" y="0"/>
                </a:lnTo>
                <a:lnTo>
                  <a:pt x="481224" y="476850"/>
                </a:lnTo>
                <a:lnTo>
                  <a:pt x="0" y="4768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3" name="Freeform 18">
            <a:extLst>
              <a:ext uri="{FF2B5EF4-FFF2-40B4-BE49-F238E27FC236}">
                <a16:creationId xmlns:a16="http://schemas.microsoft.com/office/drawing/2014/main" id="{195EBAF3-05CD-6E48-6DDB-9D51B95E0752}"/>
              </a:ext>
            </a:extLst>
          </p:cNvPr>
          <p:cNvSpPr/>
          <p:nvPr/>
        </p:nvSpPr>
        <p:spPr>
          <a:xfrm>
            <a:off x="7428024" y="3997242"/>
            <a:ext cx="475398" cy="458976"/>
          </a:xfrm>
          <a:custGeom>
            <a:avLst/>
            <a:gdLst/>
            <a:ahLst/>
            <a:cxnLst/>
            <a:rect l="l" t="t" r="r" b="b"/>
            <a:pathLst>
              <a:path w="475398" h="458976">
                <a:moveTo>
                  <a:pt x="0" y="0"/>
                </a:moveTo>
                <a:lnTo>
                  <a:pt x="475399" y="0"/>
                </a:lnTo>
                <a:lnTo>
                  <a:pt x="475399" y="458976"/>
                </a:lnTo>
                <a:lnTo>
                  <a:pt x="0" y="458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4CC7F775-3240-036B-43C8-CDE87BFB464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1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GlowEdges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47080" y="1784172"/>
            <a:ext cx="379272" cy="45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686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772</Words>
  <Application>Microsoft Office PowerPoint</Application>
  <PresentationFormat>Custom</PresentationFormat>
  <Paragraphs>155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DM Sans</vt:lpstr>
      <vt:lpstr>Montserrat Bold</vt:lpstr>
      <vt:lpstr>Calibri</vt:lpstr>
      <vt:lpstr>Merriweather</vt:lpstr>
      <vt:lpstr>Merriweather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Rudra Pathade</cp:lastModifiedBy>
  <cp:revision>1</cp:revision>
  <dcterms:created xsi:type="dcterms:W3CDTF">2006-08-16T00:00:00Z</dcterms:created>
  <dcterms:modified xsi:type="dcterms:W3CDTF">2026-07-16T19:41:51Z</dcterms:modified>
  <dc:identifier>DAHPjg2RUDg</dc:identifier>
</cp:coreProperties>
</file>