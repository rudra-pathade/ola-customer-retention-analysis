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8288000" cy="10287000"/>
  <p:notesSz cx="6858000" cy="9144000"/>
  <p:embeddedFontLst>
    <p:embeddedFont>
      <p:font typeface="DM Sans" pitchFamily="2" charset="0"/>
      <p:regular r:id="rId13"/>
      <p:boldItalic r:id="rId14"/>
    </p:embeddedFont>
    <p:embeddedFont>
      <p:font typeface="Merriweather" panose="00000500000000000000" pitchFamily="2" charset="0"/>
      <p:regular r:id="rId15"/>
    </p:embeddedFont>
    <p:embeddedFont>
      <p:font typeface="Merriweather Bold" panose="020B0604020202020204" charset="0"/>
      <p:regular r:id="rId16"/>
    </p:embeddedFont>
    <p:embeddedFont>
      <p:font typeface="Montserrat Bold" panose="020B0604020202020204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50" d="100"/>
          <a:sy n="50" d="100"/>
        </p:scale>
        <p:origin x="120" y="13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udra Pathade" userId="ecabf40330bb97c1" providerId="LiveId" clId="{00CAB3AB-F496-422B-9574-D424CA26E857}"/>
    <pc:docChg chg="undo custSel modSld">
      <pc:chgData name="Rudra Pathade" userId="ecabf40330bb97c1" providerId="LiveId" clId="{00CAB3AB-F496-422B-9574-D424CA26E857}" dt="2026-07-16T19:00:51.299" v="14" actId="14100"/>
      <pc:docMkLst>
        <pc:docMk/>
      </pc:docMkLst>
      <pc:sldChg chg="addSp modSp mod">
        <pc:chgData name="Rudra Pathade" userId="ecabf40330bb97c1" providerId="LiveId" clId="{00CAB3AB-F496-422B-9574-D424CA26E857}" dt="2026-07-16T19:00:51.299" v="14" actId="14100"/>
        <pc:sldMkLst>
          <pc:docMk/>
          <pc:sldMk cId="0" sldId="262"/>
        </pc:sldMkLst>
        <pc:grpChg chg="mod">
          <ac:chgData name="Rudra Pathade" userId="ecabf40330bb97c1" providerId="LiveId" clId="{00CAB3AB-F496-422B-9574-D424CA26E857}" dt="2026-07-16T19:00:40.068" v="13" actId="1038"/>
          <ac:grpSpMkLst>
            <pc:docMk/>
            <pc:sldMk cId="0" sldId="262"/>
            <ac:grpSpMk id="4" creationId="{00000000-0000-0000-0000-000000000000}"/>
          </ac:grpSpMkLst>
        </pc:grpChg>
        <pc:picChg chg="add mod">
          <ac:chgData name="Rudra Pathade" userId="ecabf40330bb97c1" providerId="LiveId" clId="{00CAB3AB-F496-422B-9574-D424CA26E857}" dt="2026-07-16T19:00:51.299" v="14" actId="14100"/>
          <ac:picMkLst>
            <pc:docMk/>
            <pc:sldMk cId="0" sldId="262"/>
            <ac:picMk id="30" creationId="{6C53DCA9-393A-0F19-4ACC-04354EFED3C4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8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3.jpeg"/><Relationship Id="rId7" Type="http://schemas.openxmlformats.org/officeDocument/2006/relationships/image" Target="../media/image1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jpe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hyperlink" Target="https://gamma.app/?utm_source=made-with-gamma" TargetMode="External"/><Relationship Id="rId7" Type="http://schemas.openxmlformats.org/officeDocument/2006/relationships/image" Target="../media/image21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jpeg"/><Relationship Id="rId5" Type="http://schemas.openxmlformats.org/officeDocument/2006/relationships/image" Target="../media/image20.jpe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svg"/><Relationship Id="rId5" Type="http://schemas.openxmlformats.org/officeDocument/2006/relationships/image" Target="../media/image25.svg"/><Relationship Id="rId4" Type="http://schemas.openxmlformats.org/officeDocument/2006/relationships/image" Target="../media/image24.svg"/><Relationship Id="rId9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9151A">
                <a:alpha val="90196"/>
              </a:srgbClr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58000" cy="10287000"/>
            <a:chOff x="0" y="0"/>
            <a:chExt cx="9144000" cy="13716000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937744" y="3274371"/>
            <a:ext cx="9270502" cy="1947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88"/>
              </a:lnSpc>
            </a:pPr>
            <a:r>
              <a:rPr lang="en-US" sz="6000">
                <a:solidFill>
                  <a:srgbClr val="F5F0F0"/>
                </a:solidFill>
                <a:latin typeface="Merriweather"/>
                <a:ea typeface="Merriweather"/>
                <a:cs typeface="Merriweather"/>
                <a:sym typeface="Merriweather"/>
              </a:rPr>
              <a:t>Ola Customer Retention Analysis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937744" y="5589089"/>
            <a:ext cx="10184902" cy="588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30"/>
              </a:lnSpc>
            </a:pPr>
            <a:r>
              <a:rPr lang="en-US" sz="24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Customer Behavior, Ride Performance &amp; Retention Insights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7937744" y="6524920"/>
            <a:ext cx="844896" cy="468659"/>
            <a:chOff x="0" y="0"/>
            <a:chExt cx="1126528" cy="62487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126490" cy="624840"/>
            </a:xfrm>
            <a:custGeom>
              <a:avLst/>
              <a:gdLst/>
              <a:ahLst/>
              <a:cxnLst/>
              <a:rect l="l" t="t" r="r" b="b"/>
              <a:pathLst>
                <a:path w="1126490" h="624840">
                  <a:moveTo>
                    <a:pt x="0" y="138176"/>
                  </a:moveTo>
                  <a:cubicBezTo>
                    <a:pt x="0" y="61849"/>
                    <a:pt x="61849" y="0"/>
                    <a:pt x="138176" y="0"/>
                  </a:cubicBezTo>
                  <a:lnTo>
                    <a:pt x="988314" y="0"/>
                  </a:lnTo>
                  <a:cubicBezTo>
                    <a:pt x="1064641" y="0"/>
                    <a:pt x="1126490" y="61849"/>
                    <a:pt x="1126490" y="138176"/>
                  </a:cubicBezTo>
                  <a:lnTo>
                    <a:pt x="1126490" y="486664"/>
                  </a:lnTo>
                  <a:cubicBezTo>
                    <a:pt x="1126490" y="562991"/>
                    <a:pt x="1064641" y="624840"/>
                    <a:pt x="988314" y="624840"/>
                  </a:cubicBezTo>
                  <a:lnTo>
                    <a:pt x="138176" y="624840"/>
                  </a:lnTo>
                  <a:cubicBezTo>
                    <a:pt x="61849" y="624840"/>
                    <a:pt x="0" y="562991"/>
                    <a:pt x="0" y="486664"/>
                  </a:cubicBezTo>
                  <a:close/>
                </a:path>
              </a:pathLst>
            </a:custGeom>
            <a:solidFill>
              <a:srgbClr val="001D4D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8122739" y="6626866"/>
            <a:ext cx="1389307" cy="2742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88"/>
              </a:lnSpc>
            </a:pPr>
            <a:r>
              <a:rPr lang="en-US" sz="19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SQL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8936831" y="6524920"/>
            <a:ext cx="2670572" cy="468659"/>
            <a:chOff x="0" y="0"/>
            <a:chExt cx="3560762" cy="62487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560699" cy="624840"/>
            </a:xfrm>
            <a:custGeom>
              <a:avLst/>
              <a:gdLst/>
              <a:ahLst/>
              <a:cxnLst/>
              <a:rect l="l" t="t" r="r" b="b"/>
              <a:pathLst>
                <a:path w="3560699" h="624840">
                  <a:moveTo>
                    <a:pt x="0" y="138176"/>
                  </a:moveTo>
                  <a:cubicBezTo>
                    <a:pt x="0" y="61849"/>
                    <a:pt x="61849" y="0"/>
                    <a:pt x="138176" y="0"/>
                  </a:cubicBezTo>
                  <a:lnTo>
                    <a:pt x="3422523" y="0"/>
                  </a:lnTo>
                  <a:cubicBezTo>
                    <a:pt x="3498850" y="0"/>
                    <a:pt x="3560699" y="61849"/>
                    <a:pt x="3560699" y="138176"/>
                  </a:cubicBezTo>
                  <a:lnTo>
                    <a:pt x="3560699" y="486664"/>
                  </a:lnTo>
                  <a:cubicBezTo>
                    <a:pt x="3560699" y="562991"/>
                    <a:pt x="3498850" y="624840"/>
                    <a:pt x="3422523" y="624840"/>
                  </a:cubicBezTo>
                  <a:lnTo>
                    <a:pt x="138176" y="624840"/>
                  </a:lnTo>
                  <a:cubicBezTo>
                    <a:pt x="61849" y="624840"/>
                    <a:pt x="0" y="562991"/>
                    <a:pt x="0" y="486664"/>
                  </a:cubicBezTo>
                  <a:close/>
                </a:path>
              </a:pathLst>
            </a:custGeom>
            <a:solidFill>
              <a:srgbClr val="001D4D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9121826" y="6626866"/>
            <a:ext cx="3214983" cy="2742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88"/>
              </a:lnSpc>
            </a:pPr>
            <a:r>
              <a:rPr lang="en-US" sz="19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PYTHON (PANDAS)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11761594" y="6524920"/>
            <a:ext cx="1601238" cy="468659"/>
            <a:chOff x="0" y="0"/>
            <a:chExt cx="2134984" cy="624878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134997" cy="624840"/>
            </a:xfrm>
            <a:custGeom>
              <a:avLst/>
              <a:gdLst/>
              <a:ahLst/>
              <a:cxnLst/>
              <a:rect l="l" t="t" r="r" b="b"/>
              <a:pathLst>
                <a:path w="2134997" h="624840">
                  <a:moveTo>
                    <a:pt x="0" y="138176"/>
                  </a:moveTo>
                  <a:cubicBezTo>
                    <a:pt x="0" y="61849"/>
                    <a:pt x="61849" y="0"/>
                    <a:pt x="138176" y="0"/>
                  </a:cubicBezTo>
                  <a:lnTo>
                    <a:pt x="1996821" y="0"/>
                  </a:lnTo>
                  <a:cubicBezTo>
                    <a:pt x="2073148" y="0"/>
                    <a:pt x="2134997" y="61849"/>
                    <a:pt x="2134997" y="138176"/>
                  </a:cubicBezTo>
                  <a:lnTo>
                    <a:pt x="2134997" y="486664"/>
                  </a:lnTo>
                  <a:cubicBezTo>
                    <a:pt x="2134997" y="562991"/>
                    <a:pt x="2073148" y="624840"/>
                    <a:pt x="1996821" y="624840"/>
                  </a:cubicBezTo>
                  <a:lnTo>
                    <a:pt x="138176" y="624840"/>
                  </a:lnTo>
                  <a:cubicBezTo>
                    <a:pt x="61849" y="624840"/>
                    <a:pt x="0" y="562991"/>
                    <a:pt x="0" y="486664"/>
                  </a:cubicBezTo>
                  <a:close/>
                </a:path>
              </a:pathLst>
            </a:custGeom>
            <a:solidFill>
              <a:srgbClr val="001D4D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1946579" y="6626866"/>
            <a:ext cx="2145659" cy="2742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88"/>
              </a:lnSpc>
            </a:pPr>
            <a:r>
              <a:rPr lang="en-US" sz="19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POWER BI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9151A">
                <a:alpha val="90196"/>
              </a:srgbClr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74982" y="844601"/>
            <a:ext cx="2445696" cy="412252"/>
            <a:chOff x="0" y="0"/>
            <a:chExt cx="3260928" cy="54966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260852" cy="549656"/>
            </a:xfrm>
            <a:custGeom>
              <a:avLst/>
              <a:gdLst/>
              <a:ahLst/>
              <a:cxnLst/>
              <a:rect l="l" t="t" r="r" b="b"/>
              <a:pathLst>
                <a:path w="3260852" h="549656">
                  <a:moveTo>
                    <a:pt x="0" y="121539"/>
                  </a:moveTo>
                  <a:cubicBezTo>
                    <a:pt x="0" y="54483"/>
                    <a:pt x="54483" y="0"/>
                    <a:pt x="121539" y="0"/>
                  </a:cubicBezTo>
                  <a:lnTo>
                    <a:pt x="3139313" y="0"/>
                  </a:lnTo>
                  <a:cubicBezTo>
                    <a:pt x="3206496" y="0"/>
                    <a:pt x="3260852" y="54483"/>
                    <a:pt x="3260852" y="121539"/>
                  </a:cubicBezTo>
                  <a:lnTo>
                    <a:pt x="3260852" y="428117"/>
                  </a:lnTo>
                  <a:cubicBezTo>
                    <a:pt x="3260852" y="495300"/>
                    <a:pt x="3206369" y="549656"/>
                    <a:pt x="3139313" y="549656"/>
                  </a:cubicBezTo>
                  <a:lnTo>
                    <a:pt x="121539" y="549656"/>
                  </a:lnTo>
                  <a:cubicBezTo>
                    <a:pt x="54483" y="549656"/>
                    <a:pt x="0" y="495173"/>
                    <a:pt x="0" y="428117"/>
                  </a:cubicBez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5597" r="-2" b="-65599"/>
              </a:stretch>
            </a:blipFill>
            <a:ln w="9526" cap="sq">
              <a:solidFill>
                <a:srgbClr val="609DFF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238698" y="938365"/>
            <a:ext cx="3032674" cy="2342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43"/>
              </a:lnSpc>
            </a:pPr>
            <a:r>
              <a:rPr lang="en-US" sz="1600">
                <a:solidFill>
                  <a:srgbClr val="609DFF"/>
                </a:solidFill>
                <a:latin typeface="Merriweather"/>
                <a:ea typeface="Merriweather"/>
                <a:cs typeface="Merriweather"/>
                <a:sym typeface="Merriweather"/>
              </a:rPr>
              <a:t>PROJECT OVERVIEW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79744" y="1333652"/>
            <a:ext cx="16128502" cy="838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89"/>
              </a:lnSpc>
            </a:pPr>
            <a:r>
              <a:rPr lang="en-US" sz="5200">
                <a:solidFill>
                  <a:srgbClr val="F5F0F0"/>
                </a:solidFill>
                <a:latin typeface="Merriweather"/>
                <a:ea typeface="Merriweather"/>
                <a:cs typeface="Merriweather"/>
                <a:sym typeface="Merriweather"/>
              </a:rPr>
              <a:t>Understanding the Business Problem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1079744" y="2769689"/>
            <a:ext cx="10257082" cy="5812336"/>
            <a:chOff x="0" y="0"/>
            <a:chExt cx="13676109" cy="7749781"/>
          </a:xfrm>
        </p:grpSpPr>
        <p:sp>
          <p:nvSpPr>
            <p:cNvPr id="11" name="Freeform 11" descr="preencoded.png"/>
            <p:cNvSpPr/>
            <p:nvPr/>
          </p:nvSpPr>
          <p:spPr>
            <a:xfrm>
              <a:off x="0" y="0"/>
              <a:ext cx="13676122" cy="7749794"/>
            </a:xfrm>
            <a:custGeom>
              <a:avLst/>
              <a:gdLst/>
              <a:ahLst/>
              <a:cxnLst/>
              <a:rect l="l" t="t" r="r" b="b"/>
              <a:pathLst>
                <a:path w="13676122" h="7749794">
                  <a:moveTo>
                    <a:pt x="0" y="0"/>
                  </a:moveTo>
                  <a:lnTo>
                    <a:pt x="13676122" y="0"/>
                  </a:lnTo>
                  <a:lnTo>
                    <a:pt x="13676122" y="7749794"/>
                  </a:lnTo>
                  <a:lnTo>
                    <a:pt x="0" y="77497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57" b="-57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1993166" y="3414865"/>
            <a:ext cx="5224462" cy="2029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6"/>
              </a:lnSpc>
            </a:pPr>
            <a:r>
              <a:rPr lang="en-US" sz="20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This project analyzes customer ride booking behavior to identify the key factors influencing </a:t>
            </a:r>
            <a:r>
              <a:rPr lang="en-US" sz="2000" b="1">
                <a:solidFill>
                  <a:srgbClr val="E2E6E9"/>
                </a:solidFill>
                <a:latin typeface="Merriweather Bold"/>
                <a:ea typeface="Merriweather Bold"/>
                <a:cs typeface="Merriweather Bold"/>
                <a:sym typeface="Merriweather Bold"/>
              </a:rPr>
              <a:t>retention, cancellations, satisfaction,</a:t>
            </a:r>
            <a:r>
              <a:rPr lang="en-US" sz="20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 and </a:t>
            </a:r>
            <a:r>
              <a:rPr lang="en-US" sz="2000" b="1">
                <a:solidFill>
                  <a:srgbClr val="E2E6E9"/>
                </a:solidFill>
                <a:latin typeface="Merriweather Bold"/>
                <a:ea typeface="Merriweather Bold"/>
                <a:cs typeface="Merriweather Bold"/>
                <a:sym typeface="Merriweather Bold"/>
              </a:rPr>
              <a:t>payment preferences</a:t>
            </a:r>
            <a:r>
              <a:rPr lang="en-US" sz="20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993166" y="5662317"/>
            <a:ext cx="5224462" cy="423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4"/>
              </a:lnSpc>
            </a:pPr>
            <a:r>
              <a:rPr lang="en-US" sz="2600">
                <a:solidFill>
                  <a:srgbClr val="F5F0F0"/>
                </a:solidFill>
                <a:latin typeface="Merriweather"/>
                <a:ea typeface="Merriweather"/>
                <a:cs typeface="Merriweather"/>
                <a:sym typeface="Merriweather"/>
              </a:rPr>
              <a:t>Business Goals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1993166" y="6256734"/>
            <a:ext cx="5224462" cy="23476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82600" lvl="1" indent="-241300" algn="l">
              <a:lnSpc>
                <a:spcPts val="2976"/>
              </a:lnSpc>
              <a:buFont typeface="Arial"/>
              <a:buChar char="•"/>
            </a:pPr>
            <a:r>
              <a:rPr lang="en-US" sz="20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Improve customer retention rates</a:t>
            </a:r>
          </a:p>
          <a:p>
            <a:pPr marL="482600" lvl="1" indent="-241300" algn="l">
              <a:lnSpc>
                <a:spcPts val="2976"/>
              </a:lnSpc>
              <a:buFont typeface="Arial"/>
              <a:buChar char="•"/>
            </a:pPr>
            <a:r>
              <a:rPr lang="en-US" sz="20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Reduce ride cancellations</a:t>
            </a:r>
          </a:p>
          <a:p>
            <a:pPr marL="482600" lvl="1" indent="-241300" algn="l">
              <a:lnSpc>
                <a:spcPts val="2976"/>
              </a:lnSpc>
              <a:buFont typeface="Arial"/>
              <a:buChar char="•"/>
            </a:pPr>
            <a:r>
              <a:rPr lang="en-US" sz="20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Increase booking success rate</a:t>
            </a:r>
          </a:p>
          <a:p>
            <a:pPr marL="482600" lvl="1" indent="-241300" algn="l">
              <a:lnSpc>
                <a:spcPts val="2976"/>
              </a:lnSpc>
              <a:buFont typeface="Arial"/>
              <a:buChar char="•"/>
            </a:pPr>
            <a:r>
              <a:rPr lang="en-US" sz="20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Optimize payment methods</a:t>
            </a:r>
          </a:p>
          <a:p>
            <a:pPr marL="482600" lvl="1" indent="-241300" algn="l">
              <a:lnSpc>
                <a:spcPts val="2976"/>
              </a:lnSpc>
              <a:buFont typeface="Arial"/>
              <a:buChar char="•"/>
            </a:pPr>
            <a:r>
              <a:rPr lang="en-US" sz="20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Identify operational bottlenecks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9151A">
                <a:alpha val="90196"/>
              </a:srgbClr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74982" y="1499740"/>
            <a:ext cx="3220050" cy="478184"/>
            <a:chOff x="0" y="0"/>
            <a:chExt cx="4293400" cy="6375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293362" cy="637540"/>
            </a:xfrm>
            <a:custGeom>
              <a:avLst/>
              <a:gdLst/>
              <a:ahLst/>
              <a:cxnLst/>
              <a:rect l="l" t="t" r="r" b="b"/>
              <a:pathLst>
                <a:path w="4293362" h="637540">
                  <a:moveTo>
                    <a:pt x="0" y="140970"/>
                  </a:moveTo>
                  <a:cubicBezTo>
                    <a:pt x="0" y="63119"/>
                    <a:pt x="63119" y="0"/>
                    <a:pt x="140970" y="0"/>
                  </a:cubicBezTo>
                  <a:lnTo>
                    <a:pt x="4152392" y="0"/>
                  </a:lnTo>
                  <a:cubicBezTo>
                    <a:pt x="4230243" y="0"/>
                    <a:pt x="4293362" y="63119"/>
                    <a:pt x="4293362" y="140970"/>
                  </a:cubicBezTo>
                  <a:lnTo>
                    <a:pt x="4293362" y="496570"/>
                  </a:lnTo>
                  <a:cubicBezTo>
                    <a:pt x="4293362" y="574421"/>
                    <a:pt x="4230243" y="637540"/>
                    <a:pt x="4152392" y="637540"/>
                  </a:cubicBezTo>
                  <a:lnTo>
                    <a:pt x="140970" y="637540"/>
                  </a:lnTo>
                  <a:cubicBezTo>
                    <a:pt x="63119" y="637540"/>
                    <a:pt x="0" y="574421"/>
                    <a:pt x="0" y="496570"/>
                  </a:cubicBez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1215" b="-81221"/>
              </a:stretch>
            </a:blipFill>
            <a:ln w="9526" cap="sq">
              <a:solidFill>
                <a:srgbClr val="609DFF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264739" y="1606448"/>
            <a:ext cx="3754936" cy="2742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88"/>
              </a:lnSpc>
            </a:pPr>
            <a:r>
              <a:rPr lang="en-US" sz="1900">
                <a:solidFill>
                  <a:srgbClr val="609DFF"/>
                </a:solidFill>
                <a:latin typeface="Merriweather"/>
                <a:ea typeface="Merriweather"/>
                <a:cs typeface="Merriweather"/>
                <a:sym typeface="Merriweather"/>
              </a:rPr>
              <a:t>PROBLEM STATEMENT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79744" y="2077488"/>
            <a:ext cx="16128502" cy="9831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88"/>
              </a:lnSpc>
            </a:pPr>
            <a:r>
              <a:rPr lang="en-US" sz="6000">
                <a:solidFill>
                  <a:srgbClr val="F5F0F0"/>
                </a:solidFill>
                <a:latin typeface="Merriweather"/>
                <a:ea typeface="Merriweather"/>
                <a:cs typeface="Merriweather"/>
                <a:sym typeface="Merriweather"/>
              </a:rPr>
              <a:t>Why Customers Leave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79744" y="3428105"/>
            <a:ext cx="16128502" cy="10822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30"/>
              </a:lnSpc>
            </a:pPr>
            <a:r>
              <a:rPr lang="en-US" sz="24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Ride-hailing platforms lose customers to recurring pain points. This analysis pinpoints the root causes and delivers data-driven recommendations.</a:t>
            </a:r>
          </a:p>
        </p:txBody>
      </p:sp>
      <p:sp>
        <p:nvSpPr>
          <p:cNvPr id="11" name="Freeform 11" descr="preencoded.png"/>
          <p:cNvSpPr/>
          <p:nvPr/>
        </p:nvSpPr>
        <p:spPr>
          <a:xfrm>
            <a:off x="1079744" y="4857455"/>
            <a:ext cx="771230" cy="771230"/>
          </a:xfrm>
          <a:custGeom>
            <a:avLst/>
            <a:gdLst/>
            <a:ahLst/>
            <a:cxnLst/>
            <a:rect l="l" t="t" r="r" b="b"/>
            <a:pathLst>
              <a:path w="771230" h="771230">
                <a:moveTo>
                  <a:pt x="0" y="0"/>
                </a:moveTo>
                <a:lnTo>
                  <a:pt x="771230" y="0"/>
                </a:lnTo>
                <a:lnTo>
                  <a:pt x="771230" y="771229"/>
                </a:lnTo>
                <a:lnTo>
                  <a:pt x="0" y="77122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t="-617" b="-616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2" name="TextBox 12"/>
          <p:cNvSpPr txBox="1"/>
          <p:nvPr/>
        </p:nvSpPr>
        <p:spPr>
          <a:xfrm>
            <a:off x="2236594" y="4847930"/>
            <a:ext cx="6714534" cy="4914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44"/>
              </a:lnSpc>
            </a:pPr>
            <a:r>
              <a:rPr lang="en-US" sz="30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Frequent Cancellations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236594" y="5429098"/>
            <a:ext cx="6714534" cy="10822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30"/>
              </a:lnSpc>
            </a:pPr>
            <a:r>
              <a:rPr lang="en-US" sz="24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Driver and customer cancellations erode trust and reduce completed rides.</a:t>
            </a:r>
          </a:p>
        </p:txBody>
      </p:sp>
      <p:sp>
        <p:nvSpPr>
          <p:cNvPr id="14" name="Freeform 14" descr="preencoded.png"/>
          <p:cNvSpPr/>
          <p:nvPr/>
        </p:nvSpPr>
        <p:spPr>
          <a:xfrm>
            <a:off x="9336729" y="4857455"/>
            <a:ext cx="771230" cy="771230"/>
          </a:xfrm>
          <a:custGeom>
            <a:avLst/>
            <a:gdLst/>
            <a:ahLst/>
            <a:cxnLst/>
            <a:rect l="l" t="t" r="r" b="b"/>
            <a:pathLst>
              <a:path w="771230" h="771230">
                <a:moveTo>
                  <a:pt x="0" y="0"/>
                </a:moveTo>
                <a:lnTo>
                  <a:pt x="771230" y="0"/>
                </a:lnTo>
                <a:lnTo>
                  <a:pt x="771230" y="771229"/>
                </a:lnTo>
                <a:lnTo>
                  <a:pt x="0" y="77122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1235" r="-1233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5" name="TextBox 15"/>
          <p:cNvSpPr txBox="1"/>
          <p:nvPr/>
        </p:nvSpPr>
        <p:spPr>
          <a:xfrm>
            <a:off x="10493578" y="4847930"/>
            <a:ext cx="6714677" cy="4914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44"/>
              </a:lnSpc>
            </a:pPr>
            <a:r>
              <a:rPr lang="en-US" sz="30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Long Wait Times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493578" y="5429098"/>
            <a:ext cx="6714677" cy="10822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30"/>
              </a:lnSpc>
            </a:pPr>
            <a:r>
              <a:rPr lang="en-US" sz="24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Extended pickup waits are a leading cause of customer-initiated cancellations.</a:t>
            </a:r>
          </a:p>
        </p:txBody>
      </p:sp>
      <p:sp>
        <p:nvSpPr>
          <p:cNvPr id="17" name="Freeform 17" descr="preencoded.png"/>
          <p:cNvSpPr/>
          <p:nvPr/>
        </p:nvSpPr>
        <p:spPr>
          <a:xfrm>
            <a:off x="1079744" y="7128424"/>
            <a:ext cx="771230" cy="771230"/>
          </a:xfrm>
          <a:custGeom>
            <a:avLst/>
            <a:gdLst/>
            <a:ahLst/>
            <a:cxnLst/>
            <a:rect l="l" t="t" r="r" b="b"/>
            <a:pathLst>
              <a:path w="771230" h="771230">
                <a:moveTo>
                  <a:pt x="0" y="0"/>
                </a:moveTo>
                <a:lnTo>
                  <a:pt x="771230" y="0"/>
                </a:lnTo>
                <a:lnTo>
                  <a:pt x="771230" y="771230"/>
                </a:lnTo>
                <a:lnTo>
                  <a:pt x="0" y="77123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t="-18518" b="-18518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8" name="TextBox 18"/>
          <p:cNvSpPr txBox="1"/>
          <p:nvPr/>
        </p:nvSpPr>
        <p:spPr>
          <a:xfrm>
            <a:off x="2236594" y="7118899"/>
            <a:ext cx="6714534" cy="4914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44"/>
              </a:lnSpc>
            </a:pPr>
            <a:r>
              <a:rPr lang="en-US" sz="30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Poor Driver Experience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2236594" y="7700067"/>
            <a:ext cx="6714534" cy="10822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30"/>
              </a:lnSpc>
            </a:pPr>
            <a:r>
              <a:rPr lang="en-US" sz="24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Low driver ratings directly correlate with reduced customer satisfaction.</a:t>
            </a:r>
          </a:p>
        </p:txBody>
      </p:sp>
      <p:sp>
        <p:nvSpPr>
          <p:cNvPr id="20" name="Freeform 20" descr="preencoded.png"/>
          <p:cNvSpPr/>
          <p:nvPr/>
        </p:nvSpPr>
        <p:spPr>
          <a:xfrm>
            <a:off x="9336729" y="7128424"/>
            <a:ext cx="771230" cy="771230"/>
          </a:xfrm>
          <a:custGeom>
            <a:avLst/>
            <a:gdLst/>
            <a:ahLst/>
            <a:cxnLst/>
            <a:rect l="l" t="t" r="r" b="b"/>
            <a:pathLst>
              <a:path w="771230" h="771230">
                <a:moveTo>
                  <a:pt x="0" y="0"/>
                </a:moveTo>
                <a:lnTo>
                  <a:pt x="771230" y="0"/>
                </a:lnTo>
                <a:lnTo>
                  <a:pt x="771230" y="771230"/>
                </a:lnTo>
                <a:lnTo>
                  <a:pt x="0" y="77123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17900" r="-1790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1" name="TextBox 21"/>
          <p:cNvSpPr txBox="1"/>
          <p:nvPr/>
        </p:nvSpPr>
        <p:spPr>
          <a:xfrm>
            <a:off x="10493578" y="7118899"/>
            <a:ext cx="6714677" cy="4914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44"/>
              </a:lnSpc>
            </a:pPr>
            <a:r>
              <a:rPr lang="en-US" sz="30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Payment Friction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493578" y="7700067"/>
            <a:ext cx="6714677" cy="10822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30"/>
              </a:lnSpc>
            </a:pPr>
            <a:r>
              <a:rPr lang="en-US" sz="24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Limited or unreliable payment options deter repeat bookings.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9151A">
                <a:alpha val="90196"/>
              </a:srgbClr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74982" y="848620"/>
            <a:ext cx="774202" cy="353616"/>
            <a:chOff x="0" y="0"/>
            <a:chExt cx="1032269" cy="47148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32256" cy="471424"/>
            </a:xfrm>
            <a:custGeom>
              <a:avLst/>
              <a:gdLst/>
              <a:ahLst/>
              <a:cxnLst/>
              <a:rect l="l" t="t" r="r" b="b"/>
              <a:pathLst>
                <a:path w="1032256" h="471424">
                  <a:moveTo>
                    <a:pt x="0" y="104267"/>
                  </a:moveTo>
                  <a:cubicBezTo>
                    <a:pt x="0" y="46736"/>
                    <a:pt x="46736" y="0"/>
                    <a:pt x="104267" y="0"/>
                  </a:cubicBezTo>
                  <a:lnTo>
                    <a:pt x="927989" y="0"/>
                  </a:lnTo>
                  <a:cubicBezTo>
                    <a:pt x="985647" y="0"/>
                    <a:pt x="1032256" y="46736"/>
                    <a:pt x="1032256" y="104267"/>
                  </a:cubicBezTo>
                  <a:lnTo>
                    <a:pt x="1032256" y="367157"/>
                  </a:lnTo>
                  <a:cubicBezTo>
                    <a:pt x="1032256" y="424815"/>
                    <a:pt x="985520" y="471424"/>
                    <a:pt x="927989" y="471424"/>
                  </a:cubicBezTo>
                  <a:lnTo>
                    <a:pt x="104267" y="471424"/>
                  </a:lnTo>
                  <a:cubicBezTo>
                    <a:pt x="46736" y="471551"/>
                    <a:pt x="0" y="424815"/>
                    <a:pt x="0" y="367157"/>
                  </a:cubicBez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602" r="-8603" b="-13"/>
              </a:stretch>
            </a:blipFill>
            <a:ln w="9526" cap="sq">
              <a:solidFill>
                <a:srgbClr val="609DFF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215628" y="921248"/>
            <a:ext cx="1407319" cy="2083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12"/>
              </a:lnSpc>
            </a:pPr>
            <a:r>
              <a:rPr lang="en-US" sz="1399">
                <a:solidFill>
                  <a:srgbClr val="609DFF"/>
                </a:solidFill>
                <a:latin typeface="Merriweather"/>
                <a:ea typeface="Merriweather"/>
                <a:cs typeface="Merriweather"/>
                <a:sym typeface="Merriweather"/>
              </a:rPr>
              <a:t>DATA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79744" y="1254471"/>
            <a:ext cx="16128502" cy="717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91"/>
              </a:lnSpc>
            </a:pPr>
            <a:r>
              <a:rPr lang="en-US" sz="4400">
                <a:solidFill>
                  <a:srgbClr val="F5F0F0"/>
                </a:solidFill>
                <a:latin typeface="Merriweather"/>
                <a:ea typeface="Merriweather"/>
                <a:cs typeface="Merriweather"/>
                <a:sym typeface="Merriweather"/>
              </a:rPr>
              <a:t>Dataset at a Glance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1079744" y="2911973"/>
            <a:ext cx="10289972" cy="5830938"/>
            <a:chOff x="0" y="0"/>
            <a:chExt cx="13719962" cy="7774584"/>
          </a:xfrm>
        </p:grpSpPr>
        <p:sp>
          <p:nvSpPr>
            <p:cNvPr id="11" name="Freeform 11" descr="preencoded.png"/>
            <p:cNvSpPr/>
            <p:nvPr/>
          </p:nvSpPr>
          <p:spPr>
            <a:xfrm>
              <a:off x="0" y="0"/>
              <a:ext cx="13719938" cy="7774559"/>
            </a:xfrm>
            <a:custGeom>
              <a:avLst/>
              <a:gdLst/>
              <a:ahLst/>
              <a:cxnLst/>
              <a:rect l="l" t="t" r="r" b="b"/>
              <a:pathLst>
                <a:path w="13719938" h="7774559">
                  <a:moveTo>
                    <a:pt x="0" y="0"/>
                  </a:moveTo>
                  <a:lnTo>
                    <a:pt x="13719938" y="0"/>
                  </a:lnTo>
                  <a:lnTo>
                    <a:pt x="13719938" y="7774559"/>
                  </a:lnTo>
                  <a:lnTo>
                    <a:pt x="0" y="77745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35" b="-36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1927234" y="2403872"/>
            <a:ext cx="5295157" cy="5440861"/>
            <a:chOff x="0" y="0"/>
            <a:chExt cx="7060209" cy="725448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7060311" cy="7254494"/>
            </a:xfrm>
            <a:custGeom>
              <a:avLst/>
              <a:gdLst/>
              <a:ahLst/>
              <a:cxnLst/>
              <a:rect l="l" t="t" r="r" b="b"/>
              <a:pathLst>
                <a:path w="7060311" h="7254494">
                  <a:moveTo>
                    <a:pt x="0" y="127127"/>
                  </a:moveTo>
                  <a:cubicBezTo>
                    <a:pt x="0" y="56896"/>
                    <a:pt x="56896" y="0"/>
                    <a:pt x="127127" y="0"/>
                  </a:cubicBezTo>
                  <a:lnTo>
                    <a:pt x="6933184" y="0"/>
                  </a:lnTo>
                  <a:cubicBezTo>
                    <a:pt x="7003415" y="0"/>
                    <a:pt x="7060311" y="56896"/>
                    <a:pt x="7060311" y="127127"/>
                  </a:cubicBezTo>
                  <a:lnTo>
                    <a:pt x="7060311" y="7127367"/>
                  </a:lnTo>
                  <a:cubicBezTo>
                    <a:pt x="7060311" y="7197599"/>
                    <a:pt x="7003415" y="7254494"/>
                    <a:pt x="6933184" y="7254494"/>
                  </a:cubicBezTo>
                  <a:lnTo>
                    <a:pt x="127127" y="7254494"/>
                  </a:lnTo>
                  <a:cubicBezTo>
                    <a:pt x="56896" y="7254494"/>
                    <a:pt x="0" y="7197598"/>
                    <a:pt x="0" y="7127367"/>
                  </a:cubicBez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1832" r="-81831"/>
              </a:stretch>
            </a:blipFill>
            <a:ln w="9526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1931996" y="2955579"/>
            <a:ext cx="5285632" cy="14164"/>
            <a:chOff x="0" y="0"/>
            <a:chExt cx="7047509" cy="18885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7047484" cy="18923"/>
            </a:xfrm>
            <a:custGeom>
              <a:avLst/>
              <a:gdLst/>
              <a:ahLst/>
              <a:cxnLst/>
              <a:rect l="l" t="t" r="r" b="b"/>
              <a:pathLst>
                <a:path w="7047484" h="18923">
                  <a:moveTo>
                    <a:pt x="0" y="0"/>
                  </a:moveTo>
                  <a:lnTo>
                    <a:pt x="7047484" y="0"/>
                  </a:lnTo>
                  <a:lnTo>
                    <a:pt x="7047484" y="18923"/>
                  </a:lnTo>
                  <a:lnTo>
                    <a:pt x="0" y="18923"/>
                  </a:lnTo>
                  <a:close/>
                </a:path>
              </a:pathLst>
            </a:custGeom>
            <a:solidFill>
              <a:srgbClr val="FFFFFF">
                <a:alpha val="5490"/>
              </a:srgbClr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1931996" y="3497761"/>
            <a:ext cx="5285632" cy="14164"/>
            <a:chOff x="0" y="0"/>
            <a:chExt cx="7047509" cy="18885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7047484" cy="18923"/>
            </a:xfrm>
            <a:custGeom>
              <a:avLst/>
              <a:gdLst/>
              <a:ahLst/>
              <a:cxnLst/>
              <a:rect l="l" t="t" r="r" b="b"/>
              <a:pathLst>
                <a:path w="7047484" h="18923">
                  <a:moveTo>
                    <a:pt x="0" y="0"/>
                  </a:moveTo>
                  <a:lnTo>
                    <a:pt x="7047484" y="0"/>
                  </a:lnTo>
                  <a:lnTo>
                    <a:pt x="7047484" y="18923"/>
                  </a:lnTo>
                  <a:lnTo>
                    <a:pt x="0" y="18923"/>
                  </a:lnTo>
                  <a:close/>
                </a:path>
              </a:pathLst>
            </a:custGeom>
            <a:solidFill>
              <a:srgbClr val="FFFFFF">
                <a:alpha val="5490"/>
              </a:srgbClr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1931996" y="4039943"/>
            <a:ext cx="5285632" cy="14164"/>
            <a:chOff x="0" y="0"/>
            <a:chExt cx="7047509" cy="18885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7047484" cy="18923"/>
            </a:xfrm>
            <a:custGeom>
              <a:avLst/>
              <a:gdLst/>
              <a:ahLst/>
              <a:cxnLst/>
              <a:rect l="l" t="t" r="r" b="b"/>
              <a:pathLst>
                <a:path w="7047484" h="18923">
                  <a:moveTo>
                    <a:pt x="0" y="0"/>
                  </a:moveTo>
                  <a:lnTo>
                    <a:pt x="7047484" y="0"/>
                  </a:lnTo>
                  <a:lnTo>
                    <a:pt x="7047484" y="18923"/>
                  </a:lnTo>
                  <a:lnTo>
                    <a:pt x="0" y="18923"/>
                  </a:lnTo>
                  <a:close/>
                </a:path>
              </a:pathLst>
            </a:custGeom>
            <a:solidFill>
              <a:srgbClr val="FFFFFF">
                <a:alpha val="5490"/>
              </a:srgbClr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1931996" y="4582116"/>
            <a:ext cx="5285632" cy="14164"/>
            <a:chOff x="0" y="0"/>
            <a:chExt cx="7047509" cy="18885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7047484" cy="18923"/>
            </a:xfrm>
            <a:custGeom>
              <a:avLst/>
              <a:gdLst/>
              <a:ahLst/>
              <a:cxnLst/>
              <a:rect l="l" t="t" r="r" b="b"/>
              <a:pathLst>
                <a:path w="7047484" h="18923">
                  <a:moveTo>
                    <a:pt x="0" y="0"/>
                  </a:moveTo>
                  <a:lnTo>
                    <a:pt x="7047484" y="0"/>
                  </a:lnTo>
                  <a:lnTo>
                    <a:pt x="7047484" y="18923"/>
                  </a:lnTo>
                  <a:lnTo>
                    <a:pt x="0" y="18923"/>
                  </a:lnTo>
                  <a:close/>
                </a:path>
              </a:pathLst>
            </a:custGeom>
            <a:solidFill>
              <a:srgbClr val="FFFFFF">
                <a:alpha val="5490"/>
              </a:srgbClr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1931996" y="5124298"/>
            <a:ext cx="5285632" cy="14164"/>
            <a:chOff x="0" y="0"/>
            <a:chExt cx="7047509" cy="18885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7047484" cy="18923"/>
            </a:xfrm>
            <a:custGeom>
              <a:avLst/>
              <a:gdLst/>
              <a:ahLst/>
              <a:cxnLst/>
              <a:rect l="l" t="t" r="r" b="b"/>
              <a:pathLst>
                <a:path w="7047484" h="18923">
                  <a:moveTo>
                    <a:pt x="0" y="0"/>
                  </a:moveTo>
                  <a:lnTo>
                    <a:pt x="7047484" y="0"/>
                  </a:lnTo>
                  <a:lnTo>
                    <a:pt x="7047484" y="18923"/>
                  </a:lnTo>
                  <a:lnTo>
                    <a:pt x="0" y="18923"/>
                  </a:lnTo>
                  <a:close/>
                </a:path>
              </a:pathLst>
            </a:custGeom>
            <a:solidFill>
              <a:srgbClr val="FFFFFF">
                <a:alpha val="5490"/>
              </a:srgbClr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1931996" y="5666480"/>
            <a:ext cx="5285632" cy="14164"/>
            <a:chOff x="0" y="0"/>
            <a:chExt cx="7047509" cy="18885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047484" cy="18923"/>
            </a:xfrm>
            <a:custGeom>
              <a:avLst/>
              <a:gdLst/>
              <a:ahLst/>
              <a:cxnLst/>
              <a:rect l="l" t="t" r="r" b="b"/>
              <a:pathLst>
                <a:path w="7047484" h="18923">
                  <a:moveTo>
                    <a:pt x="0" y="0"/>
                  </a:moveTo>
                  <a:lnTo>
                    <a:pt x="7047484" y="0"/>
                  </a:lnTo>
                  <a:lnTo>
                    <a:pt x="7047484" y="18923"/>
                  </a:lnTo>
                  <a:lnTo>
                    <a:pt x="0" y="18923"/>
                  </a:lnTo>
                  <a:close/>
                </a:path>
              </a:pathLst>
            </a:custGeom>
            <a:solidFill>
              <a:srgbClr val="FFFFFF">
                <a:alpha val="5490"/>
              </a:srgbClr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1931996" y="6208662"/>
            <a:ext cx="5285632" cy="14164"/>
            <a:chOff x="0" y="0"/>
            <a:chExt cx="7047509" cy="18885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7047484" cy="18923"/>
            </a:xfrm>
            <a:custGeom>
              <a:avLst/>
              <a:gdLst/>
              <a:ahLst/>
              <a:cxnLst/>
              <a:rect l="l" t="t" r="r" b="b"/>
              <a:pathLst>
                <a:path w="7047484" h="18923">
                  <a:moveTo>
                    <a:pt x="0" y="0"/>
                  </a:moveTo>
                  <a:lnTo>
                    <a:pt x="7047484" y="0"/>
                  </a:lnTo>
                  <a:lnTo>
                    <a:pt x="7047484" y="18923"/>
                  </a:lnTo>
                  <a:lnTo>
                    <a:pt x="0" y="18923"/>
                  </a:lnTo>
                  <a:close/>
                </a:path>
              </a:pathLst>
            </a:custGeom>
            <a:solidFill>
              <a:srgbClr val="FFFFFF">
                <a:alpha val="5490"/>
              </a:srgbClr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1931996" y="6750844"/>
            <a:ext cx="5285632" cy="14164"/>
            <a:chOff x="0" y="0"/>
            <a:chExt cx="7047509" cy="18885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047484" cy="18923"/>
            </a:xfrm>
            <a:custGeom>
              <a:avLst/>
              <a:gdLst/>
              <a:ahLst/>
              <a:cxnLst/>
              <a:rect l="l" t="t" r="r" b="b"/>
              <a:pathLst>
                <a:path w="7047484" h="18923">
                  <a:moveTo>
                    <a:pt x="0" y="0"/>
                  </a:moveTo>
                  <a:lnTo>
                    <a:pt x="7047484" y="0"/>
                  </a:lnTo>
                  <a:lnTo>
                    <a:pt x="7047484" y="18923"/>
                  </a:lnTo>
                  <a:lnTo>
                    <a:pt x="0" y="18923"/>
                  </a:lnTo>
                  <a:close/>
                </a:path>
              </a:pathLst>
            </a:custGeom>
            <a:solidFill>
              <a:srgbClr val="FFFFFF">
                <a:alpha val="5490"/>
              </a:srgbClr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1931996" y="7293026"/>
            <a:ext cx="5285632" cy="14164"/>
            <a:chOff x="0" y="0"/>
            <a:chExt cx="7047509" cy="18885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7047484" cy="18923"/>
            </a:xfrm>
            <a:custGeom>
              <a:avLst/>
              <a:gdLst/>
              <a:ahLst/>
              <a:cxnLst/>
              <a:rect l="l" t="t" r="r" b="b"/>
              <a:pathLst>
                <a:path w="7047484" h="18923">
                  <a:moveTo>
                    <a:pt x="0" y="0"/>
                  </a:moveTo>
                  <a:lnTo>
                    <a:pt x="7047484" y="0"/>
                  </a:lnTo>
                  <a:lnTo>
                    <a:pt x="7047484" y="18923"/>
                  </a:lnTo>
                  <a:lnTo>
                    <a:pt x="0" y="18923"/>
                  </a:lnTo>
                  <a:close/>
                </a:path>
              </a:pathLst>
            </a:custGeom>
            <a:solidFill>
              <a:srgbClr val="FFFFFF">
                <a:alpha val="5490"/>
              </a:srgbClr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12168188" y="2498827"/>
            <a:ext cx="3094587" cy="342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66"/>
              </a:lnSpc>
            </a:pPr>
            <a:r>
              <a:rPr lang="en-US" sz="1700" b="1">
                <a:solidFill>
                  <a:srgbClr val="E2E6E9"/>
                </a:solidFill>
                <a:latin typeface="Merriweather Bold"/>
                <a:ea typeface="Merriweather Bold"/>
                <a:cs typeface="Merriweather Bold"/>
                <a:sym typeface="Merriweather Bold"/>
              </a:rPr>
              <a:t>Feature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4801402" y="2498827"/>
            <a:ext cx="3094587" cy="342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66"/>
              </a:lnSpc>
            </a:pPr>
            <a:r>
              <a:rPr lang="en-US" sz="1700" b="1">
                <a:solidFill>
                  <a:srgbClr val="E2E6E9"/>
                </a:solidFill>
                <a:latin typeface="Merriweather Bold"/>
                <a:ea typeface="Merriweather Bold"/>
                <a:cs typeface="Merriweather Bold"/>
                <a:sym typeface="Merriweather Bold"/>
              </a:rPr>
              <a:t>Value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2168188" y="3041009"/>
            <a:ext cx="3094587" cy="342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66"/>
              </a:lnSpc>
            </a:pPr>
            <a:r>
              <a:rPr lang="en-US" sz="17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Total Records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4801402" y="3041009"/>
            <a:ext cx="3094587" cy="342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66"/>
              </a:lnSpc>
            </a:pPr>
            <a:r>
              <a:rPr lang="en-US" sz="17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150,000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2168188" y="3583181"/>
            <a:ext cx="3094587" cy="342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66"/>
              </a:lnSpc>
            </a:pPr>
            <a:r>
              <a:rPr lang="en-US" sz="17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Total Columns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4801402" y="3583181"/>
            <a:ext cx="3094587" cy="342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66"/>
              </a:lnSpc>
            </a:pPr>
            <a:r>
              <a:rPr lang="en-US" sz="17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21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2168188" y="4125363"/>
            <a:ext cx="3094587" cy="342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66"/>
              </a:lnSpc>
            </a:pPr>
            <a:r>
              <a:rPr lang="en-US" sz="17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Booking Status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4801402" y="4125363"/>
            <a:ext cx="3094587" cy="342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66"/>
              </a:lnSpc>
            </a:pPr>
            <a:r>
              <a:rPr lang="en-US" sz="17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Multiple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2168188" y="4667545"/>
            <a:ext cx="3094587" cy="342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66"/>
              </a:lnSpc>
            </a:pPr>
            <a:r>
              <a:rPr lang="en-US" sz="17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Vehicle Types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4801402" y="4667545"/>
            <a:ext cx="3094587" cy="342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66"/>
              </a:lnSpc>
            </a:pPr>
            <a:r>
              <a:rPr lang="en-US" sz="17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Multiple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2168188" y="5209727"/>
            <a:ext cx="3094587" cy="342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66"/>
              </a:lnSpc>
            </a:pPr>
            <a:r>
              <a:rPr lang="en-US" sz="17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Payment Methods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4801402" y="5209727"/>
            <a:ext cx="3094587" cy="342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66"/>
              </a:lnSpc>
            </a:pPr>
            <a:r>
              <a:rPr lang="en-US" sz="17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Multiple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2168188" y="5751909"/>
            <a:ext cx="3094587" cy="342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66"/>
              </a:lnSpc>
            </a:pPr>
            <a:r>
              <a:rPr lang="en-US" sz="17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Customer Rating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4801402" y="5751909"/>
            <a:ext cx="3094587" cy="342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66"/>
              </a:lnSpc>
            </a:pPr>
            <a:r>
              <a:rPr lang="en-US" sz="17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Available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2168188" y="6294091"/>
            <a:ext cx="3094587" cy="342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66"/>
              </a:lnSpc>
            </a:pPr>
            <a:r>
              <a:rPr lang="en-US" sz="17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Driver Rating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4801402" y="6294091"/>
            <a:ext cx="3094587" cy="342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66"/>
              </a:lnSpc>
            </a:pPr>
            <a:r>
              <a:rPr lang="en-US" sz="17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Available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2168188" y="6836273"/>
            <a:ext cx="3094587" cy="342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66"/>
              </a:lnSpc>
            </a:pPr>
            <a:r>
              <a:rPr lang="en-US" sz="17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Ride Distance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4801402" y="6836273"/>
            <a:ext cx="3094587" cy="342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66"/>
              </a:lnSpc>
            </a:pPr>
            <a:r>
              <a:rPr lang="en-US" sz="17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Available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2168188" y="7378456"/>
            <a:ext cx="3094587" cy="342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66"/>
              </a:lnSpc>
            </a:pPr>
            <a:r>
              <a:rPr lang="en-US" sz="17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Booking Value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4801402" y="7378456"/>
            <a:ext cx="3094587" cy="342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66"/>
              </a:lnSpc>
            </a:pPr>
            <a:r>
              <a:rPr lang="en-US" sz="17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Available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1931996" y="7998466"/>
            <a:ext cx="5285632" cy="128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66"/>
              </a:lnSpc>
            </a:pPr>
            <a:r>
              <a:rPr lang="en-US" sz="17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Key columns include Booking Status, Ride Distance, Vehicle Type, Payment Method, Customer &amp; Driver Ratings, and Cancellation Reasons.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9151A">
                <a:alpha val="90196"/>
              </a:srgbClr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74982" y="1002506"/>
            <a:ext cx="1666427" cy="339033"/>
            <a:chOff x="0" y="0"/>
            <a:chExt cx="2221903" cy="45204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221865" cy="451993"/>
            </a:xfrm>
            <a:custGeom>
              <a:avLst/>
              <a:gdLst/>
              <a:ahLst/>
              <a:cxnLst/>
              <a:rect l="l" t="t" r="r" b="b"/>
              <a:pathLst>
                <a:path w="2221865" h="451993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lnTo>
                    <a:pt x="2121916" y="0"/>
                  </a:lnTo>
                  <a:cubicBezTo>
                    <a:pt x="2177161" y="0"/>
                    <a:pt x="2221865" y="44831"/>
                    <a:pt x="2221865" y="99949"/>
                  </a:cubicBezTo>
                  <a:lnTo>
                    <a:pt x="2221865" y="352044"/>
                  </a:lnTo>
                  <a:cubicBezTo>
                    <a:pt x="2221865" y="407289"/>
                    <a:pt x="2177034" y="451993"/>
                    <a:pt x="2121916" y="451993"/>
                  </a:cubicBezTo>
                  <a:lnTo>
                    <a:pt x="99949" y="451993"/>
                  </a:lnTo>
                  <a:cubicBezTo>
                    <a:pt x="44831" y="451993"/>
                    <a:pt x="0" y="407289"/>
                    <a:pt x="0" y="352044"/>
                  </a:cubicBez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778" r="-1" b="-45789"/>
              </a:stretch>
            </a:blipFill>
            <a:ln w="9526" cap="sq">
              <a:solidFill>
                <a:srgbClr val="609DFF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209827" y="1081830"/>
            <a:ext cx="2311156" cy="1899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97"/>
              </a:lnSpc>
            </a:pPr>
            <a:r>
              <a:rPr lang="en-US" sz="1300">
                <a:solidFill>
                  <a:srgbClr val="609DFF"/>
                </a:solidFill>
                <a:latin typeface="Merriweather"/>
                <a:ea typeface="Merriweather"/>
                <a:cs typeface="Merriweather"/>
                <a:sym typeface="Merriweather"/>
              </a:rPr>
              <a:t>METHODOLOGY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79744" y="1378591"/>
            <a:ext cx="16128502" cy="6969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41"/>
              </a:lnSpc>
            </a:pPr>
            <a:r>
              <a:rPr lang="en-US" sz="4200">
                <a:solidFill>
                  <a:srgbClr val="F5F0F0"/>
                </a:solidFill>
                <a:latin typeface="Merriweather"/>
                <a:ea typeface="Merriweather"/>
                <a:cs typeface="Merriweather"/>
                <a:sym typeface="Merriweather"/>
              </a:rPr>
              <a:t>End-to-End Project Workflow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1079744" y="2304307"/>
            <a:ext cx="1084659" cy="1301648"/>
            <a:chOff x="0" y="0"/>
            <a:chExt cx="1446212" cy="1735531"/>
          </a:xfrm>
        </p:grpSpPr>
        <p:sp>
          <p:nvSpPr>
            <p:cNvPr id="11" name="Freeform 11" descr="preencoded.png"/>
            <p:cNvSpPr/>
            <p:nvPr/>
          </p:nvSpPr>
          <p:spPr>
            <a:xfrm>
              <a:off x="0" y="0"/>
              <a:ext cx="1446276" cy="1735582"/>
            </a:xfrm>
            <a:custGeom>
              <a:avLst/>
              <a:gdLst/>
              <a:ahLst/>
              <a:cxnLst/>
              <a:rect l="l" t="t" r="r" b="b"/>
              <a:pathLst>
                <a:path w="1446276" h="1735582">
                  <a:moveTo>
                    <a:pt x="0" y="0"/>
                  </a:moveTo>
                  <a:lnTo>
                    <a:pt x="1446276" y="0"/>
                  </a:lnTo>
                  <a:lnTo>
                    <a:pt x="1446276" y="1735582"/>
                  </a:lnTo>
                  <a:lnTo>
                    <a:pt x="0" y="17355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70" r="4" b="-68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2316804" y="2502094"/>
            <a:ext cx="14891442" cy="3579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Raw Dataset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316804" y="2922832"/>
            <a:ext cx="14891442" cy="324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7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150K records imported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079744" y="3605955"/>
            <a:ext cx="1084659" cy="1301648"/>
            <a:chOff x="0" y="0"/>
            <a:chExt cx="1446212" cy="1735531"/>
          </a:xfrm>
        </p:grpSpPr>
        <p:sp>
          <p:nvSpPr>
            <p:cNvPr id="15" name="Freeform 15" descr="preencoded.png"/>
            <p:cNvSpPr/>
            <p:nvPr/>
          </p:nvSpPr>
          <p:spPr>
            <a:xfrm>
              <a:off x="0" y="0"/>
              <a:ext cx="1446276" cy="1735582"/>
            </a:xfrm>
            <a:custGeom>
              <a:avLst/>
              <a:gdLst/>
              <a:ahLst/>
              <a:cxnLst/>
              <a:rect l="l" t="t" r="r" b="b"/>
              <a:pathLst>
                <a:path w="1446276" h="1735582">
                  <a:moveTo>
                    <a:pt x="0" y="0"/>
                  </a:moveTo>
                  <a:lnTo>
                    <a:pt x="1446276" y="0"/>
                  </a:lnTo>
                  <a:lnTo>
                    <a:pt x="1446276" y="1735582"/>
                  </a:lnTo>
                  <a:lnTo>
                    <a:pt x="0" y="17355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70" r="4" b="-68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2316804" y="3803752"/>
            <a:ext cx="14891442" cy="3579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Data Cleaning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316804" y="4224490"/>
            <a:ext cx="14891442" cy="324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7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Python: duplicates, missing values, formatting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1079744" y="4907604"/>
            <a:ext cx="1084659" cy="1301648"/>
            <a:chOff x="0" y="0"/>
            <a:chExt cx="1446212" cy="1735531"/>
          </a:xfrm>
        </p:grpSpPr>
        <p:sp>
          <p:nvSpPr>
            <p:cNvPr id="19" name="Freeform 19" descr="preencoded.png"/>
            <p:cNvSpPr/>
            <p:nvPr/>
          </p:nvSpPr>
          <p:spPr>
            <a:xfrm>
              <a:off x="0" y="0"/>
              <a:ext cx="1446276" cy="1735582"/>
            </a:xfrm>
            <a:custGeom>
              <a:avLst/>
              <a:gdLst/>
              <a:ahLst/>
              <a:cxnLst/>
              <a:rect l="l" t="t" r="r" b="b"/>
              <a:pathLst>
                <a:path w="1446276" h="1735582">
                  <a:moveTo>
                    <a:pt x="0" y="0"/>
                  </a:moveTo>
                  <a:lnTo>
                    <a:pt x="1446276" y="0"/>
                  </a:lnTo>
                  <a:lnTo>
                    <a:pt x="1446276" y="1735582"/>
                  </a:lnTo>
                  <a:lnTo>
                    <a:pt x="0" y="17355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70" r="4" b="-68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2316804" y="5105400"/>
            <a:ext cx="14891442" cy="3579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SQL Analysis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316804" y="5526138"/>
            <a:ext cx="14891442" cy="324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7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Aggregations, KPIs, customer segmentation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1079744" y="6209262"/>
            <a:ext cx="1084659" cy="1301648"/>
            <a:chOff x="0" y="0"/>
            <a:chExt cx="1446212" cy="1735531"/>
          </a:xfrm>
        </p:grpSpPr>
        <p:sp>
          <p:nvSpPr>
            <p:cNvPr id="23" name="Freeform 23" descr="preencoded.png"/>
            <p:cNvSpPr/>
            <p:nvPr/>
          </p:nvSpPr>
          <p:spPr>
            <a:xfrm>
              <a:off x="0" y="0"/>
              <a:ext cx="1446276" cy="1735582"/>
            </a:xfrm>
            <a:custGeom>
              <a:avLst/>
              <a:gdLst/>
              <a:ahLst/>
              <a:cxnLst/>
              <a:rect l="l" t="t" r="r" b="b"/>
              <a:pathLst>
                <a:path w="1446276" h="1735582">
                  <a:moveTo>
                    <a:pt x="0" y="0"/>
                  </a:moveTo>
                  <a:lnTo>
                    <a:pt x="1446276" y="0"/>
                  </a:lnTo>
                  <a:lnTo>
                    <a:pt x="1446276" y="1735582"/>
                  </a:lnTo>
                  <a:lnTo>
                    <a:pt x="0" y="17355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70" r="4" b="-68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2316804" y="6407048"/>
            <a:ext cx="14891442" cy="3579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Power BI Modeling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316804" y="6827787"/>
            <a:ext cx="14891442" cy="324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7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DAX measures, data relationships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1079744" y="7510910"/>
            <a:ext cx="1084659" cy="1301648"/>
            <a:chOff x="0" y="0"/>
            <a:chExt cx="1446212" cy="1735531"/>
          </a:xfrm>
        </p:grpSpPr>
        <p:sp>
          <p:nvSpPr>
            <p:cNvPr id="27" name="Freeform 27" descr="preencoded.png"/>
            <p:cNvSpPr/>
            <p:nvPr/>
          </p:nvSpPr>
          <p:spPr>
            <a:xfrm>
              <a:off x="0" y="0"/>
              <a:ext cx="1446276" cy="1735582"/>
            </a:xfrm>
            <a:custGeom>
              <a:avLst/>
              <a:gdLst/>
              <a:ahLst/>
              <a:cxnLst/>
              <a:rect l="l" t="t" r="r" b="b"/>
              <a:pathLst>
                <a:path w="1446276" h="1735582">
                  <a:moveTo>
                    <a:pt x="0" y="0"/>
                  </a:moveTo>
                  <a:lnTo>
                    <a:pt x="1446276" y="0"/>
                  </a:lnTo>
                  <a:lnTo>
                    <a:pt x="1446276" y="1735582"/>
                  </a:lnTo>
                  <a:lnTo>
                    <a:pt x="0" y="17355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t="-70" r="4" b="-68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2316804" y="7708706"/>
            <a:ext cx="14891442" cy="3579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Dashboard &amp; Insights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316804" y="8129435"/>
            <a:ext cx="14891442" cy="324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7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Interactive filters, visualizations, recommendations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79744" y="8955586"/>
            <a:ext cx="17042902" cy="324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7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Each stage builds on the last — from raw data to cleaned datasets, SQL-driven aggregations, Power BI modeling, and finally actionable business insights.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9151A">
                <a:alpha val="90196"/>
              </a:srgbClr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74982" y="848173"/>
            <a:ext cx="2556720" cy="426844"/>
            <a:chOff x="0" y="0"/>
            <a:chExt cx="3408959" cy="56912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408934" cy="569087"/>
            </a:xfrm>
            <a:custGeom>
              <a:avLst/>
              <a:gdLst/>
              <a:ahLst/>
              <a:cxnLst/>
              <a:rect l="l" t="t" r="r" b="b"/>
              <a:pathLst>
                <a:path w="3408934" h="569087">
                  <a:moveTo>
                    <a:pt x="0" y="125857"/>
                  </a:moveTo>
                  <a:cubicBezTo>
                    <a:pt x="0" y="56388"/>
                    <a:pt x="56388" y="0"/>
                    <a:pt x="125857" y="0"/>
                  </a:cubicBezTo>
                  <a:lnTo>
                    <a:pt x="3283077" y="0"/>
                  </a:lnTo>
                  <a:cubicBezTo>
                    <a:pt x="3352673" y="0"/>
                    <a:pt x="3408934" y="56388"/>
                    <a:pt x="3408934" y="125857"/>
                  </a:cubicBezTo>
                  <a:lnTo>
                    <a:pt x="3408934" y="443230"/>
                  </a:lnTo>
                  <a:cubicBezTo>
                    <a:pt x="3408934" y="512826"/>
                    <a:pt x="3352546" y="569087"/>
                    <a:pt x="3283077" y="569087"/>
                  </a:cubicBezTo>
                  <a:lnTo>
                    <a:pt x="125857" y="569087"/>
                  </a:lnTo>
                  <a:cubicBezTo>
                    <a:pt x="56388" y="569087"/>
                    <a:pt x="0" y="512699"/>
                    <a:pt x="0" y="443230"/>
                  </a:cubicBez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716" b="-66723"/>
              </a:stretch>
            </a:blipFill>
            <a:ln w="9526" cap="sq">
              <a:solidFill>
                <a:srgbClr val="609DFF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244498" y="944766"/>
            <a:ext cx="3132087" cy="2431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8"/>
              </a:lnSpc>
            </a:pPr>
            <a:r>
              <a:rPr lang="en-US" sz="1700">
                <a:solidFill>
                  <a:srgbClr val="609DFF"/>
                </a:solidFill>
                <a:latin typeface="Merriweather"/>
                <a:ea typeface="Merriweather"/>
                <a:cs typeface="Merriweather"/>
                <a:sym typeface="Merriweather"/>
              </a:rPr>
              <a:t>DATA PREPARATION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79744" y="1339453"/>
            <a:ext cx="16128502" cy="8873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739"/>
              </a:lnSpc>
            </a:pPr>
            <a:r>
              <a:rPr lang="en-US" sz="5400">
                <a:solidFill>
                  <a:srgbClr val="F5F0F0"/>
                </a:solidFill>
                <a:latin typeface="Merriweather"/>
                <a:ea typeface="Merriweather"/>
                <a:cs typeface="Merriweather"/>
                <a:sym typeface="Merriweather"/>
              </a:rPr>
              <a:t>Data Cleaning &amp; Preprocessing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1079744" y="2593772"/>
            <a:ext cx="549478" cy="343348"/>
            <a:chOff x="0" y="0"/>
            <a:chExt cx="732638" cy="457797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732632" cy="457795"/>
            </a:xfrm>
            <a:custGeom>
              <a:avLst/>
              <a:gdLst/>
              <a:ahLst/>
              <a:cxnLst/>
              <a:rect l="l" t="t" r="r" b="b"/>
              <a:pathLst>
                <a:path w="732632" h="457795">
                  <a:moveTo>
                    <a:pt x="0" y="0"/>
                  </a:moveTo>
                  <a:lnTo>
                    <a:pt x="732632" y="0"/>
                  </a:lnTo>
                  <a:lnTo>
                    <a:pt x="732632" y="457795"/>
                  </a:lnTo>
                  <a:lnTo>
                    <a:pt x="0" y="45779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72" r="-3017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732638" cy="46732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E2E6E9"/>
                  </a:solidFill>
                  <a:latin typeface="Merriweather"/>
                  <a:ea typeface="Merriweather"/>
                  <a:cs typeface="Merriweather"/>
                  <a:sym typeface="Merriweather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79744" y="3022549"/>
            <a:ext cx="7941916" cy="38100"/>
            <a:chOff x="0" y="0"/>
            <a:chExt cx="10589222" cy="50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0589260" cy="50800"/>
            </a:xfrm>
            <a:custGeom>
              <a:avLst/>
              <a:gdLst/>
              <a:ahLst/>
              <a:cxnLst/>
              <a:rect l="l" t="t" r="r" b="b"/>
              <a:pathLst>
                <a:path w="10589260" h="50800">
                  <a:moveTo>
                    <a:pt x="0" y="0"/>
                  </a:moveTo>
                  <a:lnTo>
                    <a:pt x="10589260" y="0"/>
                  </a:lnTo>
                  <a:lnTo>
                    <a:pt x="10589260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609D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079744" y="3226594"/>
            <a:ext cx="7941916" cy="438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7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Removed Duplicates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9744" y="3745554"/>
            <a:ext cx="7941916" cy="4822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75"/>
              </a:lnSpc>
            </a:pPr>
            <a:r>
              <a:rPr lang="en-US" sz="21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Identified and eliminated duplicate booking records.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9266339" y="2593772"/>
            <a:ext cx="549478" cy="343348"/>
            <a:chOff x="0" y="0"/>
            <a:chExt cx="732638" cy="457797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732632" cy="457795"/>
            </a:xfrm>
            <a:custGeom>
              <a:avLst/>
              <a:gdLst/>
              <a:ahLst/>
              <a:cxnLst/>
              <a:rect l="l" t="t" r="r" b="b"/>
              <a:pathLst>
                <a:path w="732632" h="457795">
                  <a:moveTo>
                    <a:pt x="0" y="0"/>
                  </a:moveTo>
                  <a:lnTo>
                    <a:pt x="732632" y="0"/>
                  </a:lnTo>
                  <a:lnTo>
                    <a:pt x="732632" y="457795"/>
                  </a:lnTo>
                  <a:lnTo>
                    <a:pt x="0" y="45779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72" r="-3017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9525"/>
              <a:ext cx="732638" cy="46732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E2E6E9"/>
                  </a:solidFill>
                  <a:latin typeface="Merriweather"/>
                  <a:ea typeface="Merriweather"/>
                  <a:cs typeface="Merriweather"/>
                  <a:sym typeface="Merriweather"/>
                </a:rPr>
                <a:t>02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266339" y="3022549"/>
            <a:ext cx="7941916" cy="38100"/>
            <a:chOff x="0" y="0"/>
            <a:chExt cx="10589222" cy="508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0589260" cy="50800"/>
            </a:xfrm>
            <a:custGeom>
              <a:avLst/>
              <a:gdLst/>
              <a:ahLst/>
              <a:cxnLst/>
              <a:rect l="l" t="t" r="r" b="b"/>
              <a:pathLst>
                <a:path w="10589260" h="50800">
                  <a:moveTo>
                    <a:pt x="0" y="0"/>
                  </a:moveTo>
                  <a:lnTo>
                    <a:pt x="10589260" y="0"/>
                  </a:lnTo>
                  <a:lnTo>
                    <a:pt x="10589260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609D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9266339" y="3226594"/>
            <a:ext cx="7941916" cy="438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7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Handled Missing Values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9266339" y="3745554"/>
            <a:ext cx="7941916" cy="4822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75"/>
              </a:lnSpc>
            </a:pPr>
            <a:r>
              <a:rPr lang="en-US" sz="21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Applied imputation and flagging strategies for null fields.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079744" y="4678413"/>
            <a:ext cx="549478" cy="343348"/>
            <a:chOff x="0" y="0"/>
            <a:chExt cx="732638" cy="457797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32632" cy="457795"/>
            </a:xfrm>
            <a:custGeom>
              <a:avLst/>
              <a:gdLst/>
              <a:ahLst/>
              <a:cxnLst/>
              <a:rect l="l" t="t" r="r" b="b"/>
              <a:pathLst>
                <a:path w="732632" h="457795">
                  <a:moveTo>
                    <a:pt x="0" y="0"/>
                  </a:moveTo>
                  <a:lnTo>
                    <a:pt x="732632" y="0"/>
                  </a:lnTo>
                  <a:lnTo>
                    <a:pt x="732632" y="457795"/>
                  </a:lnTo>
                  <a:lnTo>
                    <a:pt x="0" y="45779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72" r="-3017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9525"/>
              <a:ext cx="732638" cy="46732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E2E6E9"/>
                  </a:solidFill>
                  <a:latin typeface="Merriweather"/>
                  <a:ea typeface="Merriweather"/>
                  <a:cs typeface="Merriweather"/>
                  <a:sym typeface="Merriweather"/>
                </a:rPr>
                <a:t>03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079744" y="5107191"/>
            <a:ext cx="7941916" cy="38100"/>
            <a:chOff x="0" y="0"/>
            <a:chExt cx="10589222" cy="508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0589260" cy="50800"/>
            </a:xfrm>
            <a:custGeom>
              <a:avLst/>
              <a:gdLst/>
              <a:ahLst/>
              <a:cxnLst/>
              <a:rect l="l" t="t" r="r" b="b"/>
              <a:pathLst>
                <a:path w="10589260" h="50800">
                  <a:moveTo>
                    <a:pt x="0" y="0"/>
                  </a:moveTo>
                  <a:lnTo>
                    <a:pt x="10589260" y="0"/>
                  </a:lnTo>
                  <a:lnTo>
                    <a:pt x="10589260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609D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1079744" y="5311226"/>
            <a:ext cx="7941916" cy="438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7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Standardized Data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79744" y="5830195"/>
            <a:ext cx="7941916" cy="8977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75"/>
              </a:lnSpc>
            </a:pPr>
            <a:r>
              <a:rPr lang="en-US" sz="21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Unified categorical values and text formatting across columns.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9266339" y="4678413"/>
            <a:ext cx="549478" cy="343348"/>
            <a:chOff x="0" y="0"/>
            <a:chExt cx="732638" cy="457797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732632" cy="457795"/>
            </a:xfrm>
            <a:custGeom>
              <a:avLst/>
              <a:gdLst/>
              <a:ahLst/>
              <a:cxnLst/>
              <a:rect l="l" t="t" r="r" b="b"/>
              <a:pathLst>
                <a:path w="732632" h="457795">
                  <a:moveTo>
                    <a:pt x="0" y="0"/>
                  </a:moveTo>
                  <a:lnTo>
                    <a:pt x="732632" y="0"/>
                  </a:lnTo>
                  <a:lnTo>
                    <a:pt x="732632" y="457795"/>
                  </a:lnTo>
                  <a:lnTo>
                    <a:pt x="0" y="45779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72" r="-3017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9525"/>
              <a:ext cx="732638" cy="46732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E2E6E9"/>
                  </a:solidFill>
                  <a:latin typeface="Merriweather"/>
                  <a:ea typeface="Merriweather"/>
                  <a:cs typeface="Merriweather"/>
                  <a:sym typeface="Merriweather"/>
                </a:rPr>
                <a:t>04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9266339" y="5107191"/>
            <a:ext cx="7941916" cy="38100"/>
            <a:chOff x="0" y="0"/>
            <a:chExt cx="10589222" cy="5080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0589260" cy="50800"/>
            </a:xfrm>
            <a:custGeom>
              <a:avLst/>
              <a:gdLst/>
              <a:ahLst/>
              <a:cxnLst/>
              <a:rect l="l" t="t" r="r" b="b"/>
              <a:pathLst>
                <a:path w="10589260" h="50800">
                  <a:moveTo>
                    <a:pt x="0" y="0"/>
                  </a:moveTo>
                  <a:lnTo>
                    <a:pt x="10589260" y="0"/>
                  </a:lnTo>
                  <a:lnTo>
                    <a:pt x="10589260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609D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9266339" y="5311226"/>
            <a:ext cx="7941916" cy="438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7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Converted Data Types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9266339" y="5830195"/>
            <a:ext cx="7941916" cy="4822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75"/>
              </a:lnSpc>
            </a:pPr>
            <a:r>
              <a:rPr lang="en-US" sz="21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Ensured correct types for dates, numerics, and categories.</a:t>
            </a:r>
          </a:p>
        </p:txBody>
      </p:sp>
      <p:grpSp>
        <p:nvGrpSpPr>
          <p:cNvPr id="38" name="Group 38"/>
          <p:cNvGrpSpPr/>
          <p:nvPr/>
        </p:nvGrpSpPr>
        <p:grpSpPr>
          <a:xfrm>
            <a:off x="1079744" y="7178573"/>
            <a:ext cx="549478" cy="343348"/>
            <a:chOff x="0" y="0"/>
            <a:chExt cx="732638" cy="457797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732632" cy="457795"/>
            </a:xfrm>
            <a:custGeom>
              <a:avLst/>
              <a:gdLst/>
              <a:ahLst/>
              <a:cxnLst/>
              <a:rect l="l" t="t" r="r" b="b"/>
              <a:pathLst>
                <a:path w="732632" h="457795">
                  <a:moveTo>
                    <a:pt x="0" y="0"/>
                  </a:moveTo>
                  <a:lnTo>
                    <a:pt x="732632" y="0"/>
                  </a:lnTo>
                  <a:lnTo>
                    <a:pt x="732632" y="457795"/>
                  </a:lnTo>
                  <a:lnTo>
                    <a:pt x="0" y="45779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72" r="-3017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9525"/>
              <a:ext cx="732638" cy="46732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E2E6E9"/>
                  </a:solidFill>
                  <a:latin typeface="Merriweather"/>
                  <a:ea typeface="Merriweather"/>
                  <a:cs typeface="Merriweather"/>
                  <a:sym typeface="Merriweather"/>
                </a:rPr>
                <a:t>05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079744" y="7607351"/>
            <a:ext cx="7941916" cy="38100"/>
            <a:chOff x="0" y="0"/>
            <a:chExt cx="10589222" cy="508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10589260" cy="50800"/>
            </a:xfrm>
            <a:custGeom>
              <a:avLst/>
              <a:gdLst/>
              <a:ahLst/>
              <a:cxnLst/>
              <a:rect l="l" t="t" r="r" b="b"/>
              <a:pathLst>
                <a:path w="10589260" h="50800">
                  <a:moveTo>
                    <a:pt x="0" y="0"/>
                  </a:moveTo>
                  <a:lnTo>
                    <a:pt x="10589260" y="0"/>
                  </a:lnTo>
                  <a:lnTo>
                    <a:pt x="10589260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609D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1079744" y="7811395"/>
            <a:ext cx="7941916" cy="438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7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Validated Booking Status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079744" y="8330355"/>
            <a:ext cx="7941916" cy="8977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75"/>
              </a:lnSpc>
            </a:pPr>
            <a:r>
              <a:rPr lang="en-US" sz="21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Confirmed consistency across status labels before SQL import.</a:t>
            </a:r>
          </a:p>
        </p:txBody>
      </p:sp>
      <p:grpSp>
        <p:nvGrpSpPr>
          <p:cNvPr id="45" name="Group 45"/>
          <p:cNvGrpSpPr/>
          <p:nvPr/>
        </p:nvGrpSpPr>
        <p:grpSpPr>
          <a:xfrm>
            <a:off x="9266339" y="7178573"/>
            <a:ext cx="549478" cy="343348"/>
            <a:chOff x="0" y="0"/>
            <a:chExt cx="732638" cy="457797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732632" cy="457795"/>
            </a:xfrm>
            <a:custGeom>
              <a:avLst/>
              <a:gdLst/>
              <a:ahLst/>
              <a:cxnLst/>
              <a:rect l="l" t="t" r="r" b="b"/>
              <a:pathLst>
                <a:path w="732632" h="457795">
                  <a:moveTo>
                    <a:pt x="0" y="0"/>
                  </a:moveTo>
                  <a:lnTo>
                    <a:pt x="732632" y="0"/>
                  </a:lnTo>
                  <a:lnTo>
                    <a:pt x="732632" y="457795"/>
                  </a:lnTo>
                  <a:lnTo>
                    <a:pt x="0" y="45779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72" r="-3017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0" y="-9525"/>
              <a:ext cx="732638" cy="46732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E2E6E9"/>
                  </a:solidFill>
                  <a:latin typeface="Merriweather"/>
                  <a:ea typeface="Merriweather"/>
                  <a:cs typeface="Merriweather"/>
                  <a:sym typeface="Merriweather"/>
                </a:rPr>
                <a:t>06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9266339" y="7607351"/>
            <a:ext cx="7941916" cy="38100"/>
            <a:chOff x="0" y="0"/>
            <a:chExt cx="10589222" cy="50800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10589260" cy="50800"/>
            </a:xfrm>
            <a:custGeom>
              <a:avLst/>
              <a:gdLst/>
              <a:ahLst/>
              <a:cxnLst/>
              <a:rect l="l" t="t" r="r" b="b"/>
              <a:pathLst>
                <a:path w="10589260" h="50800">
                  <a:moveTo>
                    <a:pt x="0" y="0"/>
                  </a:moveTo>
                  <a:lnTo>
                    <a:pt x="10589260" y="0"/>
                  </a:lnTo>
                  <a:lnTo>
                    <a:pt x="10589260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609D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50" name="TextBox 50"/>
          <p:cNvSpPr txBox="1"/>
          <p:nvPr/>
        </p:nvSpPr>
        <p:spPr>
          <a:xfrm>
            <a:off x="9266339" y="7811395"/>
            <a:ext cx="7941916" cy="438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7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Imported into Power BI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9266339" y="8330355"/>
            <a:ext cx="7941916" cy="8977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75"/>
              </a:lnSpc>
            </a:pPr>
            <a:r>
              <a:rPr lang="en-US" sz="21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Loaded clean dataset and established data model relationships.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9151A">
                <a:alpha val="90196"/>
              </a:srgbClr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74982" y="872433"/>
            <a:ext cx="1312669" cy="324298"/>
            <a:chOff x="0" y="0"/>
            <a:chExt cx="1750225" cy="43239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750187" cy="432308"/>
            </a:xfrm>
            <a:custGeom>
              <a:avLst/>
              <a:gdLst/>
              <a:ahLst/>
              <a:cxnLst/>
              <a:rect l="l" t="t" r="r" b="b"/>
              <a:pathLst>
                <a:path w="1750187" h="432308">
                  <a:moveTo>
                    <a:pt x="0" y="95631"/>
                  </a:moveTo>
                  <a:cubicBezTo>
                    <a:pt x="0" y="42799"/>
                    <a:pt x="42799" y="0"/>
                    <a:pt x="95631" y="0"/>
                  </a:cubicBezTo>
                  <a:lnTo>
                    <a:pt x="1654556" y="0"/>
                  </a:lnTo>
                  <a:cubicBezTo>
                    <a:pt x="1707388" y="0"/>
                    <a:pt x="1750187" y="42799"/>
                    <a:pt x="1750187" y="95631"/>
                  </a:cubicBezTo>
                  <a:lnTo>
                    <a:pt x="1750187" y="336677"/>
                  </a:lnTo>
                  <a:cubicBezTo>
                    <a:pt x="1750187" y="389509"/>
                    <a:pt x="1707388" y="432308"/>
                    <a:pt x="1654556" y="432308"/>
                  </a:cubicBezTo>
                  <a:lnTo>
                    <a:pt x="95631" y="432308"/>
                  </a:lnTo>
                  <a:cubicBezTo>
                    <a:pt x="42799" y="432435"/>
                    <a:pt x="0" y="389509"/>
                    <a:pt x="0" y="336677"/>
                  </a:cubicBez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876" r="-2" b="-28896"/>
              </a:stretch>
            </a:blipFill>
            <a:ln w="9526" cap="sq">
              <a:solidFill>
                <a:srgbClr val="609DFF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204017" y="948776"/>
            <a:ext cx="1968998" cy="1811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97"/>
              </a:lnSpc>
            </a:pPr>
            <a:r>
              <a:rPr lang="en-US" sz="1300">
                <a:solidFill>
                  <a:srgbClr val="609DFF"/>
                </a:solidFill>
                <a:latin typeface="Merriweather"/>
                <a:ea typeface="Merriweather"/>
                <a:cs typeface="Merriweather"/>
                <a:sym typeface="Merriweather"/>
              </a:rPr>
              <a:t>DASHBOARD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79744" y="1228573"/>
            <a:ext cx="16128502" cy="666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92"/>
              </a:lnSpc>
            </a:pPr>
            <a:r>
              <a:rPr lang="en-US" sz="4000">
                <a:solidFill>
                  <a:srgbClr val="F5F0F0"/>
                </a:solidFill>
                <a:latin typeface="Merriweather"/>
                <a:ea typeface="Merriweather"/>
                <a:cs typeface="Merriweather"/>
                <a:sym typeface="Merriweather"/>
              </a:rPr>
              <a:t>Power BI Dashboard Overview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1079744" y="2260702"/>
            <a:ext cx="9597476" cy="5402609"/>
            <a:chOff x="0" y="0"/>
            <a:chExt cx="12796634" cy="7203478"/>
          </a:xfrm>
        </p:grpSpPr>
        <p:sp>
          <p:nvSpPr>
            <p:cNvPr id="11" name="Freeform 11" descr="preencoded.png"/>
            <p:cNvSpPr/>
            <p:nvPr/>
          </p:nvSpPr>
          <p:spPr>
            <a:xfrm>
              <a:off x="0" y="0"/>
              <a:ext cx="12796647" cy="7203440"/>
            </a:xfrm>
            <a:custGeom>
              <a:avLst/>
              <a:gdLst/>
              <a:ahLst/>
              <a:cxnLst/>
              <a:rect l="l" t="t" r="r" b="b"/>
              <a:pathLst>
                <a:path w="12796647" h="7203440">
                  <a:moveTo>
                    <a:pt x="0" y="0"/>
                  </a:moveTo>
                  <a:lnTo>
                    <a:pt x="12796647" y="0"/>
                  </a:lnTo>
                  <a:lnTo>
                    <a:pt x="12796647" y="7203440"/>
                  </a:lnTo>
                  <a:lnTo>
                    <a:pt x="0" y="72034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50" b="-5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1901488" y="4388348"/>
            <a:ext cx="5316141" cy="11281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31"/>
              </a:lnSpc>
            </a:pPr>
            <a:r>
              <a:rPr lang="en-US" sz="16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The interactive Power BI dashboard consolidates all key metrics into a single, filterable view — enabling stakeholders to explore booking performance, cancellations, and satisfaction at a glance.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065457" y="7962157"/>
            <a:ext cx="3956304" cy="1461945"/>
            <a:chOff x="0" y="0"/>
            <a:chExt cx="5275072" cy="194926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275072" cy="1949196"/>
            </a:xfrm>
            <a:custGeom>
              <a:avLst/>
              <a:gdLst/>
              <a:ahLst/>
              <a:cxnLst/>
              <a:rect l="l" t="t" r="r" b="b"/>
              <a:pathLst>
                <a:path w="5275072" h="1949196">
                  <a:moveTo>
                    <a:pt x="0" y="118364"/>
                  </a:moveTo>
                  <a:cubicBezTo>
                    <a:pt x="0" y="52959"/>
                    <a:pt x="52959" y="0"/>
                    <a:pt x="118364" y="0"/>
                  </a:cubicBezTo>
                  <a:lnTo>
                    <a:pt x="5156708" y="0"/>
                  </a:lnTo>
                  <a:cubicBezTo>
                    <a:pt x="5222113" y="0"/>
                    <a:pt x="5275072" y="52959"/>
                    <a:pt x="5275072" y="118364"/>
                  </a:cubicBezTo>
                  <a:lnTo>
                    <a:pt x="5275072" y="1830832"/>
                  </a:lnTo>
                  <a:cubicBezTo>
                    <a:pt x="5275072" y="1896237"/>
                    <a:pt x="5222113" y="1949196"/>
                    <a:pt x="5156708" y="1949196"/>
                  </a:cubicBezTo>
                  <a:lnTo>
                    <a:pt x="118364" y="1949196"/>
                  </a:lnTo>
                  <a:cubicBezTo>
                    <a:pt x="52959" y="1949196"/>
                    <a:pt x="0" y="1896237"/>
                    <a:pt x="0" y="1830832"/>
                  </a:cubicBezTo>
                  <a:close/>
                </a:path>
              </a:pathLst>
            </a:custGeom>
            <a:solidFill>
              <a:srgbClr val="09151A">
                <a:alpha val="90196"/>
              </a:srgbClr>
            </a:solidFill>
            <a:ln w="28576" cap="sq">
              <a:solidFill>
                <a:srgbClr val="194A99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315488" y="8202663"/>
            <a:ext cx="3456232" cy="333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6"/>
              </a:lnSpc>
            </a:pPr>
            <a:r>
              <a:rPr lang="en-US" sz="20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KPI Cards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15488" y="8600484"/>
            <a:ext cx="3456232" cy="5735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31"/>
              </a:lnSpc>
            </a:pPr>
            <a:r>
              <a:rPr lang="en-US" sz="16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High-level booking and satisfaction metrics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5132337" y="7962157"/>
            <a:ext cx="3956304" cy="1461945"/>
            <a:chOff x="0" y="0"/>
            <a:chExt cx="5275072" cy="194926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5275072" cy="1949196"/>
            </a:xfrm>
            <a:custGeom>
              <a:avLst/>
              <a:gdLst/>
              <a:ahLst/>
              <a:cxnLst/>
              <a:rect l="l" t="t" r="r" b="b"/>
              <a:pathLst>
                <a:path w="5275072" h="1949196">
                  <a:moveTo>
                    <a:pt x="0" y="118364"/>
                  </a:moveTo>
                  <a:cubicBezTo>
                    <a:pt x="0" y="52959"/>
                    <a:pt x="52959" y="0"/>
                    <a:pt x="118364" y="0"/>
                  </a:cubicBezTo>
                  <a:lnTo>
                    <a:pt x="5156708" y="0"/>
                  </a:lnTo>
                  <a:cubicBezTo>
                    <a:pt x="5222113" y="0"/>
                    <a:pt x="5275072" y="52959"/>
                    <a:pt x="5275072" y="118364"/>
                  </a:cubicBezTo>
                  <a:lnTo>
                    <a:pt x="5275072" y="1830832"/>
                  </a:lnTo>
                  <a:cubicBezTo>
                    <a:pt x="5275072" y="1896237"/>
                    <a:pt x="5222113" y="1949196"/>
                    <a:pt x="5156708" y="1949196"/>
                  </a:cubicBezTo>
                  <a:lnTo>
                    <a:pt x="118364" y="1949196"/>
                  </a:lnTo>
                  <a:cubicBezTo>
                    <a:pt x="52959" y="1949196"/>
                    <a:pt x="0" y="1896237"/>
                    <a:pt x="0" y="1830832"/>
                  </a:cubicBezTo>
                  <a:close/>
                </a:path>
              </a:pathLst>
            </a:custGeom>
            <a:solidFill>
              <a:srgbClr val="09151A">
                <a:alpha val="90196"/>
              </a:srgbClr>
            </a:solidFill>
            <a:ln w="28576" cap="sq">
              <a:solidFill>
                <a:srgbClr val="194A99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5382368" y="8202663"/>
            <a:ext cx="3456232" cy="333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6"/>
              </a:lnSpc>
            </a:pPr>
            <a:r>
              <a:rPr lang="en-US" sz="20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Interactive Charts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5382368" y="8600484"/>
            <a:ext cx="3456232" cy="5735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31"/>
              </a:lnSpc>
            </a:pPr>
            <a:r>
              <a:rPr lang="en-US" sz="16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Trend and comparative visualizations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9199216" y="7962157"/>
            <a:ext cx="3956304" cy="1461945"/>
            <a:chOff x="0" y="0"/>
            <a:chExt cx="5275072" cy="194926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5275072" cy="1949196"/>
            </a:xfrm>
            <a:custGeom>
              <a:avLst/>
              <a:gdLst/>
              <a:ahLst/>
              <a:cxnLst/>
              <a:rect l="l" t="t" r="r" b="b"/>
              <a:pathLst>
                <a:path w="5275072" h="1949196">
                  <a:moveTo>
                    <a:pt x="0" y="118364"/>
                  </a:moveTo>
                  <a:cubicBezTo>
                    <a:pt x="0" y="52959"/>
                    <a:pt x="52959" y="0"/>
                    <a:pt x="118364" y="0"/>
                  </a:cubicBezTo>
                  <a:lnTo>
                    <a:pt x="5156708" y="0"/>
                  </a:lnTo>
                  <a:cubicBezTo>
                    <a:pt x="5222113" y="0"/>
                    <a:pt x="5275072" y="52959"/>
                    <a:pt x="5275072" y="118364"/>
                  </a:cubicBezTo>
                  <a:lnTo>
                    <a:pt x="5275072" y="1830832"/>
                  </a:lnTo>
                  <a:cubicBezTo>
                    <a:pt x="5275072" y="1896237"/>
                    <a:pt x="5222113" y="1949196"/>
                    <a:pt x="5156708" y="1949196"/>
                  </a:cubicBezTo>
                  <a:lnTo>
                    <a:pt x="118364" y="1949196"/>
                  </a:lnTo>
                  <a:cubicBezTo>
                    <a:pt x="52959" y="1949196"/>
                    <a:pt x="0" y="1896237"/>
                    <a:pt x="0" y="1830832"/>
                  </a:cubicBezTo>
                  <a:close/>
                </a:path>
              </a:pathLst>
            </a:custGeom>
            <a:solidFill>
              <a:srgbClr val="09151A">
                <a:alpha val="90196"/>
              </a:srgbClr>
            </a:solidFill>
            <a:ln w="28576" cap="sq">
              <a:solidFill>
                <a:srgbClr val="194A99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9449248" y="8202663"/>
            <a:ext cx="3456232" cy="333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6"/>
              </a:lnSpc>
            </a:pPr>
            <a:r>
              <a:rPr lang="en-US" sz="20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Dynamic Filters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449248" y="8600484"/>
            <a:ext cx="3456232" cy="5735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31"/>
              </a:lnSpc>
            </a:pPr>
            <a:r>
              <a:rPr lang="en-US" sz="16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Segment by vehicle, location, or payment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13266096" y="7962157"/>
            <a:ext cx="3956447" cy="1461945"/>
            <a:chOff x="0" y="0"/>
            <a:chExt cx="5275262" cy="194926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5275199" cy="1949196"/>
            </a:xfrm>
            <a:custGeom>
              <a:avLst/>
              <a:gdLst/>
              <a:ahLst/>
              <a:cxnLst/>
              <a:rect l="l" t="t" r="r" b="b"/>
              <a:pathLst>
                <a:path w="5275199" h="1949196">
                  <a:moveTo>
                    <a:pt x="0" y="118364"/>
                  </a:moveTo>
                  <a:cubicBezTo>
                    <a:pt x="0" y="52959"/>
                    <a:pt x="52959" y="0"/>
                    <a:pt x="118364" y="0"/>
                  </a:cubicBezTo>
                  <a:lnTo>
                    <a:pt x="5156835" y="0"/>
                  </a:lnTo>
                  <a:cubicBezTo>
                    <a:pt x="5222240" y="0"/>
                    <a:pt x="5275199" y="52959"/>
                    <a:pt x="5275199" y="118364"/>
                  </a:cubicBezTo>
                  <a:lnTo>
                    <a:pt x="5275199" y="1830832"/>
                  </a:lnTo>
                  <a:cubicBezTo>
                    <a:pt x="5275199" y="1896237"/>
                    <a:pt x="5222240" y="1949196"/>
                    <a:pt x="5156835" y="1949196"/>
                  </a:cubicBezTo>
                  <a:lnTo>
                    <a:pt x="118364" y="1949196"/>
                  </a:lnTo>
                  <a:cubicBezTo>
                    <a:pt x="52959" y="1949196"/>
                    <a:pt x="0" y="1896237"/>
                    <a:pt x="0" y="1830832"/>
                  </a:cubicBezTo>
                  <a:close/>
                </a:path>
              </a:pathLst>
            </a:custGeom>
            <a:solidFill>
              <a:srgbClr val="09151A">
                <a:alpha val="90196"/>
              </a:srgbClr>
            </a:solidFill>
            <a:ln w="28576" cap="sq">
              <a:solidFill>
                <a:srgbClr val="194A99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13516127" y="8202663"/>
            <a:ext cx="3456384" cy="333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6"/>
              </a:lnSpc>
            </a:pPr>
            <a:r>
              <a:rPr lang="en-US" sz="20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Trend Analysis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3516127" y="8600484"/>
            <a:ext cx="3456384" cy="2963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31"/>
              </a:lnSpc>
            </a:pPr>
            <a:r>
              <a:rPr lang="en-US" sz="16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Time-series performance tracking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6C53DCA9-393A-0F19-4ACC-04354EFED3C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456" y="2203567"/>
            <a:ext cx="9812183" cy="56545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9151A">
                <a:alpha val="90196"/>
              </a:srgbClr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74982" y="856507"/>
            <a:ext cx="1612106" cy="353616"/>
            <a:chOff x="0" y="0"/>
            <a:chExt cx="2149475" cy="47148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49475" cy="471424"/>
            </a:xfrm>
            <a:custGeom>
              <a:avLst/>
              <a:gdLst/>
              <a:ahLst/>
              <a:cxnLst/>
              <a:rect l="l" t="t" r="r" b="b"/>
              <a:pathLst>
                <a:path w="2149475" h="471424">
                  <a:moveTo>
                    <a:pt x="0" y="104267"/>
                  </a:moveTo>
                  <a:cubicBezTo>
                    <a:pt x="0" y="46736"/>
                    <a:pt x="46736" y="0"/>
                    <a:pt x="104267" y="0"/>
                  </a:cubicBezTo>
                  <a:lnTo>
                    <a:pt x="2045208" y="0"/>
                  </a:lnTo>
                  <a:cubicBezTo>
                    <a:pt x="2102866" y="0"/>
                    <a:pt x="2149475" y="46736"/>
                    <a:pt x="2149475" y="104267"/>
                  </a:cubicBezTo>
                  <a:lnTo>
                    <a:pt x="2149475" y="367157"/>
                  </a:lnTo>
                  <a:cubicBezTo>
                    <a:pt x="2149475" y="424815"/>
                    <a:pt x="2102739" y="471424"/>
                    <a:pt x="2045208" y="471424"/>
                  </a:cubicBezTo>
                  <a:lnTo>
                    <a:pt x="104267" y="471424"/>
                  </a:lnTo>
                  <a:cubicBezTo>
                    <a:pt x="46736" y="471551"/>
                    <a:pt x="0" y="424815"/>
                    <a:pt x="0" y="367157"/>
                  </a:cubicBez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8835" b="-38849"/>
              </a:stretch>
            </a:blipFill>
            <a:ln w="9526" cap="sq">
              <a:solidFill>
                <a:srgbClr val="609DFF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215628" y="929135"/>
            <a:ext cx="2245223" cy="2083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12"/>
              </a:lnSpc>
            </a:pPr>
            <a:r>
              <a:rPr lang="en-US" sz="1399">
                <a:solidFill>
                  <a:srgbClr val="609DFF"/>
                </a:solidFill>
                <a:latin typeface="Merriweather"/>
                <a:ea typeface="Merriweather"/>
                <a:cs typeface="Merriweather"/>
                <a:sym typeface="Merriweather"/>
              </a:rPr>
              <a:t>KPI SUMMARY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79744" y="1262358"/>
            <a:ext cx="16128502" cy="717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91"/>
              </a:lnSpc>
            </a:pPr>
            <a:r>
              <a:rPr lang="en-US" sz="4400">
                <a:solidFill>
                  <a:srgbClr val="F5F0F0"/>
                </a:solidFill>
                <a:latin typeface="Merriweather"/>
                <a:ea typeface="Merriweather"/>
                <a:cs typeface="Merriweather"/>
                <a:sym typeface="Merriweather"/>
              </a:rPr>
              <a:t>Key Performance Indicators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79744" y="2457002"/>
            <a:ext cx="7960223" cy="633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776"/>
              </a:lnSpc>
            </a:pPr>
            <a:r>
              <a:rPr lang="en-US" sz="58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150K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79744" y="3318862"/>
            <a:ext cx="7960223" cy="3634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sz="22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Total Bookings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79744" y="3753441"/>
            <a:ext cx="7960223" cy="342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66"/>
              </a:lnSpc>
            </a:pPr>
            <a:r>
              <a:rPr lang="en-US" sz="17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Records analyzed across all vehicle types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247880" y="2457002"/>
            <a:ext cx="7960366" cy="633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776"/>
              </a:lnSpc>
            </a:pPr>
            <a:r>
              <a:rPr lang="en-US" sz="58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~82%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247880" y="3318862"/>
            <a:ext cx="7960366" cy="3634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sz="22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Booking Success Rate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247880" y="3753441"/>
            <a:ext cx="7960366" cy="342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66"/>
              </a:lnSpc>
            </a:pPr>
            <a:r>
              <a:rPr lang="en-US" sz="17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Estimated — validate with your dashboard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9744" y="4656534"/>
            <a:ext cx="7960223" cy="633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776"/>
              </a:lnSpc>
            </a:pPr>
            <a:r>
              <a:rPr lang="en-US" sz="58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~18%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79744" y="5518394"/>
            <a:ext cx="7960223" cy="3634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sz="22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Cancellation Rate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79744" y="5952973"/>
            <a:ext cx="7960223" cy="342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66"/>
              </a:lnSpc>
            </a:pPr>
            <a:r>
              <a:rPr lang="en-US" sz="17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Estimated — validate with your dashboard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247880" y="4656534"/>
            <a:ext cx="7960366" cy="633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776"/>
              </a:lnSpc>
            </a:pPr>
            <a:r>
              <a:rPr lang="en-US" sz="58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₹180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247880" y="5518394"/>
            <a:ext cx="7960366" cy="3634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sz="22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Avg. Booking Value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247880" y="5952973"/>
            <a:ext cx="7960366" cy="342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66"/>
              </a:lnSpc>
            </a:pPr>
            <a:r>
              <a:rPr lang="en-US" sz="17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Estimated — validate with your dashboard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79744" y="6856066"/>
            <a:ext cx="7960223" cy="633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776"/>
              </a:lnSpc>
            </a:pPr>
            <a:r>
              <a:rPr lang="en-US" sz="58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4.2★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079744" y="7717927"/>
            <a:ext cx="7960223" cy="3634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sz="22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Avg. Customer Rating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79744" y="8152505"/>
            <a:ext cx="7960223" cy="342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66"/>
              </a:lnSpc>
            </a:pPr>
            <a:r>
              <a:rPr lang="en-US" sz="17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Estimated — validate with your dashboard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247880" y="6856066"/>
            <a:ext cx="7960366" cy="633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776"/>
              </a:lnSpc>
            </a:pPr>
            <a:r>
              <a:rPr lang="en-US" sz="58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4.4★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247880" y="7717927"/>
            <a:ext cx="7960366" cy="3634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sz="22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Avg. Driver Rating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247880" y="8152505"/>
            <a:ext cx="7960366" cy="342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66"/>
              </a:lnSpc>
            </a:pPr>
            <a:r>
              <a:rPr lang="en-US" sz="17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Estimated — validate with your dashboard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079744" y="8682333"/>
            <a:ext cx="16128502" cy="743398"/>
            <a:chOff x="0" y="0"/>
            <a:chExt cx="21504669" cy="991197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1504656" cy="991235"/>
            </a:xfrm>
            <a:custGeom>
              <a:avLst/>
              <a:gdLst/>
              <a:ahLst/>
              <a:cxnLst/>
              <a:rect l="l" t="t" r="r" b="b"/>
              <a:pathLst>
                <a:path w="21504656" h="991235">
                  <a:moveTo>
                    <a:pt x="0" y="126873"/>
                  </a:moveTo>
                  <a:cubicBezTo>
                    <a:pt x="0" y="56769"/>
                    <a:pt x="56769" y="0"/>
                    <a:pt x="126873" y="0"/>
                  </a:cubicBezTo>
                  <a:lnTo>
                    <a:pt x="21377783" y="0"/>
                  </a:lnTo>
                  <a:cubicBezTo>
                    <a:pt x="21447888" y="0"/>
                    <a:pt x="21504656" y="56769"/>
                    <a:pt x="21504656" y="126873"/>
                  </a:cubicBezTo>
                  <a:lnTo>
                    <a:pt x="21504656" y="864362"/>
                  </a:lnTo>
                  <a:cubicBezTo>
                    <a:pt x="21504656" y="934466"/>
                    <a:pt x="21447888" y="991235"/>
                    <a:pt x="21377783" y="991235"/>
                  </a:cubicBezTo>
                  <a:lnTo>
                    <a:pt x="126873" y="991235"/>
                  </a:lnTo>
                  <a:cubicBezTo>
                    <a:pt x="56769" y="991235"/>
                    <a:pt x="0" y="934339"/>
                    <a:pt x="0" y="864362"/>
                  </a:cubicBezTo>
                  <a:close/>
                </a:path>
              </a:pathLst>
            </a:custGeom>
            <a:solidFill>
              <a:srgbClr val="003180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306268" y="8976722"/>
            <a:ext cx="283216" cy="226514"/>
            <a:chOff x="0" y="0"/>
            <a:chExt cx="377622" cy="302019"/>
          </a:xfrm>
        </p:grpSpPr>
        <p:sp>
          <p:nvSpPr>
            <p:cNvPr id="31" name="Freeform 31" descr="preencoded.png"/>
            <p:cNvSpPr/>
            <p:nvPr/>
          </p:nvSpPr>
          <p:spPr>
            <a:xfrm>
              <a:off x="0" y="0"/>
              <a:ext cx="377571" cy="302006"/>
            </a:xfrm>
            <a:custGeom>
              <a:avLst/>
              <a:gdLst/>
              <a:ahLst/>
              <a:cxnLst/>
              <a:rect l="l" t="t" r="r" b="b"/>
              <a:pathLst>
                <a:path w="377571" h="302006">
                  <a:moveTo>
                    <a:pt x="0" y="0"/>
                  </a:moveTo>
                  <a:lnTo>
                    <a:pt x="377571" y="0"/>
                  </a:lnTo>
                  <a:lnTo>
                    <a:pt x="377571" y="302006"/>
                  </a:lnTo>
                  <a:lnTo>
                    <a:pt x="0" y="3020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12" r="-13" b="-2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1815998" y="8876709"/>
            <a:ext cx="16080134" cy="342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66"/>
              </a:lnSpc>
            </a:pPr>
            <a:r>
              <a:rPr lang="en-US" sz="1700">
                <a:solidFill>
                  <a:srgbClr val="FFFFFF"/>
                </a:solidFill>
                <a:latin typeface="Merriweather"/>
                <a:ea typeface="Merriweather"/>
                <a:cs typeface="Merriweather"/>
                <a:sym typeface="Merriweather"/>
              </a:rPr>
              <a:t>All KPI values are illustrative — replace with your actual dashboard figures before presenting.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9151A">
                <a:alpha val="90196"/>
              </a:srgbClr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74982" y="843705"/>
            <a:ext cx="795938" cy="243630"/>
            <a:chOff x="0" y="0"/>
            <a:chExt cx="1061250" cy="32484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61212" cy="324739"/>
            </a:xfrm>
            <a:custGeom>
              <a:avLst/>
              <a:gdLst/>
              <a:ahLst/>
              <a:cxnLst/>
              <a:rect l="l" t="t" r="r" b="b"/>
              <a:pathLst>
                <a:path w="1061212" h="324739">
                  <a:moveTo>
                    <a:pt x="0" y="71882"/>
                  </a:moveTo>
                  <a:cubicBezTo>
                    <a:pt x="0" y="32258"/>
                    <a:pt x="32258" y="0"/>
                    <a:pt x="71882" y="0"/>
                  </a:cubicBezTo>
                  <a:lnTo>
                    <a:pt x="989330" y="0"/>
                  </a:lnTo>
                  <a:cubicBezTo>
                    <a:pt x="1029081" y="0"/>
                    <a:pt x="1061212" y="32258"/>
                    <a:pt x="1061212" y="71882"/>
                  </a:cubicBezTo>
                  <a:lnTo>
                    <a:pt x="1061212" y="252857"/>
                  </a:lnTo>
                  <a:cubicBezTo>
                    <a:pt x="1061212" y="292608"/>
                    <a:pt x="1028954" y="324739"/>
                    <a:pt x="989330" y="324739"/>
                  </a:cubicBezTo>
                  <a:lnTo>
                    <a:pt x="71882" y="324739"/>
                  </a:lnTo>
                  <a:cubicBezTo>
                    <a:pt x="32258" y="324866"/>
                    <a:pt x="0" y="292608"/>
                    <a:pt x="0" y="252857"/>
                  </a:cubicBez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3661" r="-3" b="-13692"/>
              </a:stretch>
            </a:blipFill>
            <a:ln w="9526" cap="sq">
              <a:solidFill>
                <a:srgbClr val="609DFF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172166" y="894607"/>
            <a:ext cx="1515961" cy="1418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36"/>
              </a:lnSpc>
            </a:pPr>
            <a:r>
              <a:rPr lang="en-US" sz="900">
                <a:solidFill>
                  <a:srgbClr val="609DFF"/>
                </a:solidFill>
                <a:latin typeface="Merriweather"/>
                <a:ea typeface="Merriweather"/>
                <a:cs typeface="Merriweather"/>
                <a:sym typeface="Merriweather"/>
              </a:rPr>
              <a:t>INSIGHTS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79744" y="1103862"/>
            <a:ext cx="16128502" cy="4914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44"/>
              </a:lnSpc>
            </a:pPr>
            <a:r>
              <a:rPr lang="en-US" sz="3000">
                <a:solidFill>
                  <a:srgbClr val="F5F0F0"/>
                </a:solidFill>
                <a:latin typeface="Merriweather"/>
                <a:ea typeface="Merriweather"/>
                <a:cs typeface="Merriweather"/>
                <a:sym typeface="Merriweather"/>
              </a:rPr>
              <a:t>Key Business Insights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1079744" y="1797691"/>
            <a:ext cx="7876137" cy="7876137"/>
            <a:chOff x="0" y="0"/>
            <a:chExt cx="10501516" cy="10501516"/>
          </a:xfrm>
        </p:grpSpPr>
        <p:sp>
          <p:nvSpPr>
            <p:cNvPr id="11" name="Freeform 11" descr="preencoded.png"/>
            <p:cNvSpPr/>
            <p:nvPr/>
          </p:nvSpPr>
          <p:spPr>
            <a:xfrm>
              <a:off x="0" y="0"/>
              <a:ext cx="10501503" cy="10501503"/>
            </a:xfrm>
            <a:custGeom>
              <a:avLst/>
              <a:gdLst/>
              <a:ahLst/>
              <a:cxnLst/>
              <a:rect l="l" t="t" r="r" b="b"/>
              <a:pathLst>
                <a:path w="10501503" h="10501503">
                  <a:moveTo>
                    <a:pt x="0" y="0"/>
                  </a:moveTo>
                  <a:lnTo>
                    <a:pt x="10501503" y="0"/>
                  </a:lnTo>
                  <a:lnTo>
                    <a:pt x="10501503" y="10501503"/>
                  </a:lnTo>
                  <a:lnTo>
                    <a:pt x="0" y="105015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9341644" y="4170912"/>
            <a:ext cx="7876137" cy="3702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Three interconnected themes emerged from the analysis, each pointing to specific areas for operational improvement and customer experience enhancement.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341644" y="4618282"/>
            <a:ext cx="7876137" cy="241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72"/>
              </a:lnSpc>
            </a:pPr>
            <a:r>
              <a:rPr lang="en-US" sz="1500">
                <a:solidFill>
                  <a:srgbClr val="F5F0F0"/>
                </a:solidFill>
                <a:latin typeface="Merriweather"/>
                <a:ea typeface="Merriweather"/>
                <a:cs typeface="Merriweather"/>
                <a:sym typeface="Merriweather"/>
              </a:rPr>
              <a:t>Customer Behavior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341644" y="4936484"/>
            <a:ext cx="7876137" cy="6093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89560" lvl="1" indent="-144780" algn="l">
              <a:lnSpc>
                <a:spcPts val="1439"/>
              </a:lnSpc>
              <a:buFont typeface="Arial"/>
              <a:buChar char="•"/>
            </a:pPr>
            <a:r>
              <a:rPr lang="en-US" sz="12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Majority of bookings completed successfully</a:t>
            </a:r>
          </a:p>
          <a:p>
            <a:pPr marL="289560" lvl="1" indent="-144780" algn="l">
              <a:lnSpc>
                <a:spcPts val="1439"/>
              </a:lnSpc>
              <a:buFont typeface="Arial"/>
              <a:buChar char="•"/>
            </a:pPr>
            <a:r>
              <a:rPr lang="en-US" sz="12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UPI emerged as the most preferred payment method</a:t>
            </a:r>
          </a:p>
          <a:p>
            <a:pPr marL="289560" lvl="1" indent="-144780" algn="l">
              <a:lnSpc>
                <a:spcPts val="1439"/>
              </a:lnSpc>
              <a:buFont typeface="Arial"/>
              <a:buChar char="•"/>
            </a:pPr>
            <a:r>
              <a:rPr lang="en-US" sz="12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Premium vehicle categories generated higher booking values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341644" y="5622874"/>
            <a:ext cx="7876137" cy="241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72"/>
              </a:lnSpc>
            </a:pPr>
            <a:r>
              <a:rPr lang="en-US" sz="1500">
                <a:solidFill>
                  <a:srgbClr val="F5F0F0"/>
                </a:solidFill>
                <a:latin typeface="Merriweather"/>
                <a:ea typeface="Merriweather"/>
                <a:cs typeface="Merriweather"/>
                <a:sym typeface="Merriweather"/>
              </a:rPr>
              <a:t>Ride Performance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341644" y="5941066"/>
            <a:ext cx="7876137" cy="6093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89560" lvl="1" indent="-144780" algn="l">
              <a:lnSpc>
                <a:spcPts val="1439"/>
              </a:lnSpc>
              <a:buFont typeface="Arial"/>
              <a:buChar char="•"/>
            </a:pPr>
            <a:r>
              <a:rPr lang="en-US" sz="12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Average ride distance remained stable</a:t>
            </a:r>
          </a:p>
          <a:p>
            <a:pPr marL="289560" lvl="1" indent="-144780" algn="l">
              <a:lnSpc>
                <a:spcPts val="1439"/>
              </a:lnSpc>
              <a:buFont typeface="Arial"/>
              <a:buChar char="•"/>
            </a:pPr>
            <a:r>
              <a:rPr lang="en-US" sz="12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Customer ratings were consistently high</a:t>
            </a:r>
          </a:p>
          <a:p>
            <a:pPr marL="289560" lvl="1" indent="-144780" algn="l">
              <a:lnSpc>
                <a:spcPts val="1439"/>
              </a:lnSpc>
              <a:buFont typeface="Arial"/>
              <a:buChar char="•"/>
            </a:pPr>
            <a:r>
              <a:rPr lang="en-US" sz="12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Driver ratings reflect strong overall service quality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341644" y="6627466"/>
            <a:ext cx="7876137" cy="241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72"/>
              </a:lnSpc>
            </a:pPr>
            <a:r>
              <a:rPr lang="en-US" sz="1500">
                <a:solidFill>
                  <a:srgbClr val="F5F0F0"/>
                </a:solidFill>
                <a:latin typeface="Merriweather"/>
                <a:ea typeface="Merriweather"/>
                <a:cs typeface="Merriweather"/>
                <a:sym typeface="Merriweather"/>
              </a:rPr>
              <a:t>Operational Insights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341644" y="6945659"/>
            <a:ext cx="7876137" cy="3972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89560" lvl="1" indent="-144780" algn="l">
              <a:lnSpc>
                <a:spcPts val="1439"/>
              </a:lnSpc>
              <a:buFont typeface="Arial"/>
              <a:buChar char="•"/>
            </a:pPr>
            <a:r>
              <a:rPr lang="en-US" sz="12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Driver cancellations contributed significantly to unsuccessful rides</a:t>
            </a:r>
          </a:p>
          <a:p>
            <a:pPr marL="289560" lvl="1" indent="-144780" algn="l">
              <a:lnSpc>
                <a:spcPts val="1439"/>
              </a:lnSpc>
              <a:buFont typeface="Arial"/>
              <a:buChar char="•"/>
            </a:pPr>
            <a:r>
              <a:rPr lang="en-US" sz="12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Customer cancellations mainly driven by wait times and personal reasons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9151A">
                <a:alpha val="90196"/>
              </a:srgbClr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058359" y="9688982"/>
            <a:ext cx="2143687" cy="512064"/>
            <a:chOff x="0" y="0"/>
            <a:chExt cx="2858249" cy="682752"/>
          </a:xfrm>
        </p:grpSpPr>
        <p:sp>
          <p:nvSpPr>
            <p:cNvPr id="7" name="Freeform 7" descr="preencoded.png">
              <a:hlinkClick r:id="rId3" tooltip="https://gamma.app/?utm_source=made-with-gamma"/>
            </p:cNvPr>
            <p:cNvSpPr/>
            <p:nvPr/>
          </p:nvSpPr>
          <p:spPr>
            <a:xfrm>
              <a:off x="0" y="0"/>
              <a:ext cx="2858262" cy="682752"/>
            </a:xfrm>
            <a:custGeom>
              <a:avLst/>
              <a:gdLst/>
              <a:ahLst/>
              <a:cxnLst/>
              <a:rect l="l" t="t" r="r" b="b"/>
              <a:pathLst>
                <a:path w="2858262" h="682752">
                  <a:moveTo>
                    <a:pt x="0" y="0"/>
                  </a:moveTo>
                  <a:lnTo>
                    <a:pt x="2858262" y="0"/>
                  </a:lnTo>
                  <a:lnTo>
                    <a:pt x="2858262" y="682752"/>
                  </a:lnTo>
                  <a:lnTo>
                    <a:pt x="0" y="6827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074982" y="910238"/>
            <a:ext cx="2011118" cy="324298"/>
            <a:chOff x="0" y="0"/>
            <a:chExt cx="2681491" cy="432397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681478" cy="432308"/>
            </a:xfrm>
            <a:custGeom>
              <a:avLst/>
              <a:gdLst/>
              <a:ahLst/>
              <a:cxnLst/>
              <a:rect l="l" t="t" r="r" b="b"/>
              <a:pathLst>
                <a:path w="2681478" h="432308">
                  <a:moveTo>
                    <a:pt x="0" y="95631"/>
                  </a:moveTo>
                  <a:cubicBezTo>
                    <a:pt x="0" y="42799"/>
                    <a:pt x="42799" y="0"/>
                    <a:pt x="95631" y="0"/>
                  </a:cubicBezTo>
                  <a:lnTo>
                    <a:pt x="2585847" y="0"/>
                  </a:lnTo>
                  <a:cubicBezTo>
                    <a:pt x="2638679" y="0"/>
                    <a:pt x="2681478" y="42799"/>
                    <a:pt x="2681478" y="95631"/>
                  </a:cubicBezTo>
                  <a:lnTo>
                    <a:pt x="2681478" y="336677"/>
                  </a:lnTo>
                  <a:cubicBezTo>
                    <a:pt x="2681478" y="389509"/>
                    <a:pt x="2638679" y="432308"/>
                    <a:pt x="2585847" y="432308"/>
                  </a:cubicBezTo>
                  <a:lnTo>
                    <a:pt x="95631" y="432308"/>
                  </a:lnTo>
                  <a:cubicBezTo>
                    <a:pt x="42799" y="432435"/>
                    <a:pt x="0" y="389509"/>
                    <a:pt x="0" y="336677"/>
                  </a:cubicBez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70850" b="-70870"/>
              </a:stretch>
            </a:blipFill>
            <a:ln w="9526" cap="sq">
              <a:solidFill>
                <a:srgbClr val="609DFF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204017" y="986580"/>
            <a:ext cx="2667448" cy="1811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97"/>
              </a:lnSpc>
            </a:pPr>
            <a:r>
              <a:rPr lang="en-US" sz="1300">
                <a:solidFill>
                  <a:srgbClr val="609DFF"/>
                </a:solidFill>
                <a:latin typeface="Merriweather"/>
                <a:ea typeface="Merriweather"/>
                <a:cs typeface="Merriweather"/>
                <a:sym typeface="Merriweather"/>
              </a:rPr>
              <a:t>RECOMMENDATIONS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79744" y="1266377"/>
            <a:ext cx="9270502" cy="666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92"/>
              </a:lnSpc>
            </a:pPr>
            <a:r>
              <a:rPr lang="en-US" sz="4000">
                <a:solidFill>
                  <a:srgbClr val="F5F0F0"/>
                </a:solidFill>
                <a:latin typeface="Merriweather"/>
                <a:ea typeface="Merriweather"/>
                <a:cs typeface="Merriweather"/>
                <a:sym typeface="Merriweather"/>
              </a:rPr>
              <a:t>Strategic Recommendations</a:t>
            </a:r>
          </a:p>
        </p:txBody>
      </p:sp>
      <p:sp>
        <p:nvSpPr>
          <p:cNvPr id="14" name="Freeform 14" descr="preencoded.png"/>
          <p:cNvSpPr/>
          <p:nvPr/>
        </p:nvSpPr>
        <p:spPr>
          <a:xfrm>
            <a:off x="1079744" y="2141934"/>
            <a:ext cx="9270502" cy="1433360"/>
          </a:xfrm>
          <a:custGeom>
            <a:avLst/>
            <a:gdLst/>
            <a:ahLst/>
            <a:cxnLst/>
            <a:rect l="l" t="t" r="r" b="b"/>
            <a:pathLst>
              <a:path w="9270502" h="1433360">
                <a:moveTo>
                  <a:pt x="0" y="0"/>
                </a:moveTo>
                <a:lnTo>
                  <a:pt x="9270502" y="0"/>
                </a:lnTo>
                <a:lnTo>
                  <a:pt x="9270502" y="1433360"/>
                </a:lnTo>
                <a:lnTo>
                  <a:pt x="0" y="14333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t="-134" b="-134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15" name="Group 15"/>
          <p:cNvGrpSpPr/>
          <p:nvPr/>
        </p:nvGrpSpPr>
        <p:grpSpPr>
          <a:xfrm>
            <a:off x="1362666" y="2664323"/>
            <a:ext cx="310906" cy="388591"/>
            <a:chOff x="0" y="0"/>
            <a:chExt cx="414541" cy="518122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414536" cy="518120"/>
            </a:xfrm>
            <a:custGeom>
              <a:avLst/>
              <a:gdLst/>
              <a:ahLst/>
              <a:cxnLst/>
              <a:rect l="l" t="t" r="r" b="b"/>
              <a:pathLst>
                <a:path w="414536" h="518120">
                  <a:moveTo>
                    <a:pt x="0" y="0"/>
                  </a:moveTo>
                  <a:lnTo>
                    <a:pt x="414536" y="0"/>
                  </a:lnTo>
                  <a:lnTo>
                    <a:pt x="414536" y="518120"/>
                  </a:lnTo>
                  <a:lnTo>
                    <a:pt x="0" y="5181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110364" r="-110365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0"/>
              <a:ext cx="414541" cy="51812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E2E6E9"/>
                  </a:solidFill>
                  <a:latin typeface="Merriweather"/>
                  <a:ea typeface="Merriweather"/>
                  <a:cs typeface="Merriweather"/>
                  <a:sym typeface="Merriweather"/>
                </a:rPr>
                <a:t>1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2076602" y="2368153"/>
            <a:ext cx="8037909" cy="333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6"/>
              </a:lnSpc>
            </a:pPr>
            <a:r>
              <a:rPr lang="en-US" sz="20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Reduce Cancellations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2076602" y="2765974"/>
            <a:ext cx="8037909" cy="5735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31"/>
              </a:lnSpc>
            </a:pPr>
            <a:r>
              <a:rPr lang="en-US" sz="16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Improve driver allocation algorithms and introduce real-time tracking to minimize wait times.</a:t>
            </a:r>
          </a:p>
        </p:txBody>
      </p:sp>
      <p:sp>
        <p:nvSpPr>
          <p:cNvPr id="20" name="Freeform 20" descr="preencoded.png"/>
          <p:cNvSpPr/>
          <p:nvPr/>
        </p:nvSpPr>
        <p:spPr>
          <a:xfrm>
            <a:off x="1079744" y="3714455"/>
            <a:ext cx="9270502" cy="1433360"/>
          </a:xfrm>
          <a:custGeom>
            <a:avLst/>
            <a:gdLst/>
            <a:ahLst/>
            <a:cxnLst/>
            <a:rect l="l" t="t" r="r" b="b"/>
            <a:pathLst>
              <a:path w="9270502" h="1433360">
                <a:moveTo>
                  <a:pt x="0" y="0"/>
                </a:moveTo>
                <a:lnTo>
                  <a:pt x="9270502" y="0"/>
                </a:lnTo>
                <a:lnTo>
                  <a:pt x="9270502" y="1433360"/>
                </a:lnTo>
                <a:lnTo>
                  <a:pt x="0" y="14333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t="-134" b="-134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21" name="Group 21"/>
          <p:cNvGrpSpPr/>
          <p:nvPr/>
        </p:nvGrpSpPr>
        <p:grpSpPr>
          <a:xfrm>
            <a:off x="1362666" y="4236844"/>
            <a:ext cx="310906" cy="388591"/>
            <a:chOff x="0" y="0"/>
            <a:chExt cx="414541" cy="518122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14536" cy="518120"/>
            </a:xfrm>
            <a:custGeom>
              <a:avLst/>
              <a:gdLst/>
              <a:ahLst/>
              <a:cxnLst/>
              <a:rect l="l" t="t" r="r" b="b"/>
              <a:pathLst>
                <a:path w="414536" h="518120">
                  <a:moveTo>
                    <a:pt x="0" y="0"/>
                  </a:moveTo>
                  <a:lnTo>
                    <a:pt x="414536" y="0"/>
                  </a:lnTo>
                  <a:lnTo>
                    <a:pt x="414536" y="518120"/>
                  </a:lnTo>
                  <a:lnTo>
                    <a:pt x="0" y="5181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110364" r="-110365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0"/>
              <a:ext cx="414541" cy="51812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E2E6E9"/>
                  </a:solidFill>
                  <a:latin typeface="Merriweather"/>
                  <a:ea typeface="Merriweather"/>
                  <a:cs typeface="Merriweather"/>
                  <a:sym typeface="Merriweather"/>
                </a:rPr>
                <a:t>2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2076602" y="3940673"/>
            <a:ext cx="8037909" cy="333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6"/>
              </a:lnSpc>
            </a:pPr>
            <a:r>
              <a:rPr lang="en-US" sz="20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Enhance Payment Experience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076602" y="4338485"/>
            <a:ext cx="8037909" cy="5735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31"/>
              </a:lnSpc>
            </a:pPr>
            <a:r>
              <a:rPr lang="en-US" sz="16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Promote UPI and digital wallets through incentives; streamline cash payment processes.</a:t>
            </a:r>
          </a:p>
        </p:txBody>
      </p:sp>
      <p:sp>
        <p:nvSpPr>
          <p:cNvPr id="26" name="Freeform 26" descr="preencoded.png"/>
          <p:cNvSpPr/>
          <p:nvPr/>
        </p:nvSpPr>
        <p:spPr>
          <a:xfrm>
            <a:off x="1079744" y="5286966"/>
            <a:ext cx="9270502" cy="1433360"/>
          </a:xfrm>
          <a:custGeom>
            <a:avLst/>
            <a:gdLst/>
            <a:ahLst/>
            <a:cxnLst/>
            <a:rect l="l" t="t" r="r" b="b"/>
            <a:pathLst>
              <a:path w="9270502" h="1433360">
                <a:moveTo>
                  <a:pt x="0" y="0"/>
                </a:moveTo>
                <a:lnTo>
                  <a:pt x="9270502" y="0"/>
                </a:lnTo>
                <a:lnTo>
                  <a:pt x="9270502" y="1433360"/>
                </a:lnTo>
                <a:lnTo>
                  <a:pt x="0" y="14333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t="-134" b="-134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27" name="Group 27"/>
          <p:cNvGrpSpPr/>
          <p:nvPr/>
        </p:nvGrpSpPr>
        <p:grpSpPr>
          <a:xfrm>
            <a:off x="1362666" y="5809355"/>
            <a:ext cx="310906" cy="388591"/>
            <a:chOff x="0" y="0"/>
            <a:chExt cx="414541" cy="518122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14536" cy="518120"/>
            </a:xfrm>
            <a:custGeom>
              <a:avLst/>
              <a:gdLst/>
              <a:ahLst/>
              <a:cxnLst/>
              <a:rect l="l" t="t" r="r" b="b"/>
              <a:pathLst>
                <a:path w="414536" h="518120">
                  <a:moveTo>
                    <a:pt x="0" y="0"/>
                  </a:moveTo>
                  <a:lnTo>
                    <a:pt x="414536" y="0"/>
                  </a:lnTo>
                  <a:lnTo>
                    <a:pt x="414536" y="518120"/>
                  </a:lnTo>
                  <a:lnTo>
                    <a:pt x="0" y="5181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110364" r="-110365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0"/>
              <a:ext cx="414541" cy="51812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E2E6E9"/>
                  </a:solidFill>
                  <a:latin typeface="Merriweather"/>
                  <a:ea typeface="Merriweather"/>
                  <a:cs typeface="Merriweather"/>
                  <a:sym typeface="Merriweather"/>
                </a:rPr>
                <a:t>3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2076602" y="5513184"/>
            <a:ext cx="8037909" cy="333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6"/>
              </a:lnSpc>
            </a:pPr>
            <a:r>
              <a:rPr lang="en-US" sz="20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Boost Driver Quality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076602" y="5911005"/>
            <a:ext cx="8037909" cy="5735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31"/>
              </a:lnSpc>
            </a:pPr>
            <a:r>
              <a:rPr lang="en-US" sz="16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Implement driver training programs and performance-based incentives to improve ratings.</a:t>
            </a:r>
          </a:p>
        </p:txBody>
      </p:sp>
      <p:sp>
        <p:nvSpPr>
          <p:cNvPr id="32" name="Freeform 32" descr="preencoded.png"/>
          <p:cNvSpPr/>
          <p:nvPr/>
        </p:nvSpPr>
        <p:spPr>
          <a:xfrm>
            <a:off x="1079744" y="6859486"/>
            <a:ext cx="9270502" cy="1433360"/>
          </a:xfrm>
          <a:custGeom>
            <a:avLst/>
            <a:gdLst/>
            <a:ahLst/>
            <a:cxnLst/>
            <a:rect l="l" t="t" r="r" b="b"/>
            <a:pathLst>
              <a:path w="9270502" h="1433360">
                <a:moveTo>
                  <a:pt x="0" y="0"/>
                </a:moveTo>
                <a:lnTo>
                  <a:pt x="9270502" y="0"/>
                </a:lnTo>
                <a:lnTo>
                  <a:pt x="9270502" y="1433360"/>
                </a:lnTo>
                <a:lnTo>
                  <a:pt x="0" y="14333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t="-134" b="-134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33" name="Group 33"/>
          <p:cNvGrpSpPr/>
          <p:nvPr/>
        </p:nvGrpSpPr>
        <p:grpSpPr>
          <a:xfrm>
            <a:off x="1362666" y="7381875"/>
            <a:ext cx="310906" cy="388591"/>
            <a:chOff x="0" y="0"/>
            <a:chExt cx="414541" cy="518122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414536" cy="518120"/>
            </a:xfrm>
            <a:custGeom>
              <a:avLst/>
              <a:gdLst/>
              <a:ahLst/>
              <a:cxnLst/>
              <a:rect l="l" t="t" r="r" b="b"/>
              <a:pathLst>
                <a:path w="414536" h="518120">
                  <a:moveTo>
                    <a:pt x="0" y="0"/>
                  </a:moveTo>
                  <a:lnTo>
                    <a:pt x="414536" y="0"/>
                  </a:lnTo>
                  <a:lnTo>
                    <a:pt x="414536" y="518120"/>
                  </a:lnTo>
                  <a:lnTo>
                    <a:pt x="0" y="5181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110364" r="-110365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0"/>
              <a:ext cx="414541" cy="51812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E2E6E9"/>
                  </a:solidFill>
                  <a:latin typeface="Merriweather"/>
                  <a:ea typeface="Merriweather"/>
                  <a:cs typeface="Merriweather"/>
                  <a:sym typeface="Merriweather"/>
                </a:rPr>
                <a:t>4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2076602" y="7085705"/>
            <a:ext cx="8037909" cy="333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6"/>
              </a:lnSpc>
            </a:pPr>
            <a:r>
              <a:rPr lang="en-US" sz="20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Customer Retention Programs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2076602" y="7483526"/>
            <a:ext cx="8037909" cy="5735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31"/>
              </a:lnSpc>
            </a:pPr>
            <a:r>
              <a:rPr lang="en-US" sz="1600">
                <a:solidFill>
                  <a:srgbClr val="E2E6E9"/>
                </a:solidFill>
                <a:latin typeface="Merriweather"/>
                <a:ea typeface="Merriweather"/>
                <a:cs typeface="Merriweather"/>
                <a:sym typeface="Merriweather"/>
              </a:rPr>
              <a:t>Launch loyalty rewards and personalized offers for high-frequency users to reduce churn.</a:t>
            </a:r>
          </a:p>
        </p:txBody>
      </p:sp>
      <p:grpSp>
        <p:nvGrpSpPr>
          <p:cNvPr id="38" name="Group 38"/>
          <p:cNvGrpSpPr/>
          <p:nvPr/>
        </p:nvGrpSpPr>
        <p:grpSpPr>
          <a:xfrm>
            <a:off x="1079744" y="8449418"/>
            <a:ext cx="9270502" cy="922582"/>
            <a:chOff x="0" y="0"/>
            <a:chExt cx="12360669" cy="1230109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2360656" cy="1230122"/>
            </a:xfrm>
            <a:custGeom>
              <a:avLst/>
              <a:gdLst/>
              <a:ahLst/>
              <a:cxnLst/>
              <a:rect l="l" t="t" r="r" b="b"/>
              <a:pathLst>
                <a:path w="12360656" h="1230122">
                  <a:moveTo>
                    <a:pt x="0" y="116078"/>
                  </a:moveTo>
                  <a:cubicBezTo>
                    <a:pt x="0" y="51943"/>
                    <a:pt x="51943" y="0"/>
                    <a:pt x="116078" y="0"/>
                  </a:cubicBezTo>
                  <a:lnTo>
                    <a:pt x="12244578" y="0"/>
                  </a:lnTo>
                  <a:cubicBezTo>
                    <a:pt x="12308713" y="0"/>
                    <a:pt x="12360656" y="51943"/>
                    <a:pt x="12360656" y="116078"/>
                  </a:cubicBezTo>
                  <a:lnTo>
                    <a:pt x="12360656" y="1114044"/>
                  </a:lnTo>
                  <a:cubicBezTo>
                    <a:pt x="12360656" y="1178179"/>
                    <a:pt x="12308713" y="1230122"/>
                    <a:pt x="12244578" y="1230122"/>
                  </a:cubicBezTo>
                  <a:lnTo>
                    <a:pt x="116078" y="1230122"/>
                  </a:lnTo>
                  <a:cubicBezTo>
                    <a:pt x="51943" y="1230122"/>
                    <a:pt x="0" y="1178179"/>
                    <a:pt x="0" y="1114044"/>
                  </a:cubicBezTo>
                  <a:close/>
                </a:path>
              </a:pathLst>
            </a:custGeom>
            <a:solidFill>
              <a:srgbClr val="003180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286913" y="8717604"/>
            <a:ext cx="259109" cy="207169"/>
            <a:chOff x="0" y="0"/>
            <a:chExt cx="345478" cy="276225"/>
          </a:xfrm>
        </p:grpSpPr>
        <p:sp>
          <p:nvSpPr>
            <p:cNvPr id="41" name="Freeform 41" descr="preencoded.png"/>
            <p:cNvSpPr/>
            <p:nvPr/>
          </p:nvSpPr>
          <p:spPr>
            <a:xfrm>
              <a:off x="0" y="0"/>
              <a:ext cx="345440" cy="276225"/>
            </a:xfrm>
            <a:custGeom>
              <a:avLst/>
              <a:gdLst/>
              <a:ahLst/>
              <a:cxnLst/>
              <a:rect l="l" t="t" r="r" b="b"/>
              <a:pathLst>
                <a:path w="345440" h="276225">
                  <a:moveTo>
                    <a:pt x="0" y="0"/>
                  </a:moveTo>
                  <a:lnTo>
                    <a:pt x="345440" y="0"/>
                  </a:lnTo>
                  <a:lnTo>
                    <a:pt x="345440" y="276225"/>
                  </a:lnTo>
                  <a:lnTo>
                    <a:pt x="0" y="2762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878" r="-893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1753200" y="8621316"/>
            <a:ext cx="8389887" cy="5735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31"/>
              </a:lnSpc>
            </a:pPr>
            <a:r>
              <a:rPr lang="en-US" sz="1600">
                <a:solidFill>
                  <a:srgbClr val="FFFFFF"/>
                </a:solidFill>
                <a:latin typeface="Merriweather"/>
                <a:ea typeface="Merriweather"/>
                <a:cs typeface="Merriweather"/>
                <a:sym typeface="Merriweather"/>
              </a:rPr>
              <a:t>These recommendations are grounded in the data analysis and can be prioritized based on implementation effort and expected business impact.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900B33-1445-225F-67E9-6A212FCAE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E2820574-1A8F-BFD3-1466-F02A98123F84}"/>
              </a:ext>
            </a:extLst>
          </p:cNvPr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>
              <a:extLst>
                <a:ext uri="{FF2B5EF4-FFF2-40B4-BE49-F238E27FC236}">
                  <a16:creationId xmlns:a16="http://schemas.microsoft.com/office/drawing/2014/main" id="{67BAED9D-4737-35EE-0C8A-3591FC7F0591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E6965F5D-845A-03AF-0C9D-F84C1B732CBE}"/>
              </a:ext>
            </a:extLst>
          </p:cNvPr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428A392C-ADAD-F2E8-4F33-86CA21CDABB8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9151A">
                <a:alpha val="90196"/>
              </a:srgbClr>
            </a:solidFill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20" name="TextBox 20">
            <a:extLst>
              <a:ext uri="{FF2B5EF4-FFF2-40B4-BE49-F238E27FC236}">
                <a16:creationId xmlns:a16="http://schemas.microsoft.com/office/drawing/2014/main" id="{5C3CBCDA-C915-32AD-A077-CC8A707D3A76}"/>
              </a:ext>
            </a:extLst>
          </p:cNvPr>
          <p:cNvSpPr txBox="1"/>
          <p:nvPr/>
        </p:nvSpPr>
        <p:spPr>
          <a:xfrm>
            <a:off x="1902565" y="5214637"/>
            <a:ext cx="6519544" cy="14554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875"/>
              </a:lnSpc>
            </a:pPr>
            <a:r>
              <a:rPr lang="en-US" sz="4197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Thank You &amp;</a:t>
            </a:r>
          </a:p>
          <a:p>
            <a:pPr marL="0" lvl="0" indent="0" algn="l">
              <a:lnSpc>
                <a:spcPts val="5875"/>
              </a:lnSpc>
            </a:pPr>
            <a:r>
              <a:rPr lang="en-US" sz="4197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Questions</a:t>
            </a:r>
          </a:p>
        </p:txBody>
      </p:sp>
      <p:sp>
        <p:nvSpPr>
          <p:cNvPr id="22" name="Freeform 6">
            <a:extLst>
              <a:ext uri="{FF2B5EF4-FFF2-40B4-BE49-F238E27FC236}">
                <a16:creationId xmlns:a16="http://schemas.microsoft.com/office/drawing/2014/main" id="{7C6698E2-59DD-C41B-551E-6A740F57227D}"/>
              </a:ext>
            </a:extLst>
          </p:cNvPr>
          <p:cNvSpPr/>
          <p:nvPr/>
        </p:nvSpPr>
        <p:spPr>
          <a:xfrm rot="5400000">
            <a:off x="1347292" y="413497"/>
            <a:ext cx="592749" cy="3254855"/>
          </a:xfrm>
          <a:custGeom>
            <a:avLst/>
            <a:gdLst/>
            <a:ahLst/>
            <a:cxnLst/>
            <a:rect l="l" t="t" r="r" b="b"/>
            <a:pathLst>
              <a:path w="592749" h="3790837">
                <a:moveTo>
                  <a:pt x="0" y="0"/>
                </a:moveTo>
                <a:lnTo>
                  <a:pt x="592750" y="0"/>
                </a:lnTo>
                <a:lnTo>
                  <a:pt x="592750" y="3790837"/>
                </a:lnTo>
                <a:lnTo>
                  <a:pt x="0" y="379083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4" name="Freeform 5">
            <a:extLst>
              <a:ext uri="{FF2B5EF4-FFF2-40B4-BE49-F238E27FC236}">
                <a16:creationId xmlns:a16="http://schemas.microsoft.com/office/drawing/2014/main" id="{9F092C93-AA3A-145B-894B-AF55CAD9983D}"/>
              </a:ext>
            </a:extLst>
          </p:cNvPr>
          <p:cNvSpPr/>
          <p:nvPr/>
        </p:nvSpPr>
        <p:spPr>
          <a:xfrm>
            <a:off x="3031975" y="1744550"/>
            <a:ext cx="3254855" cy="2398708"/>
          </a:xfrm>
          <a:custGeom>
            <a:avLst/>
            <a:gdLst/>
            <a:ahLst/>
            <a:cxnLst/>
            <a:rect l="l" t="t" r="r" b="b"/>
            <a:pathLst>
              <a:path w="2999498" h="2398708">
                <a:moveTo>
                  <a:pt x="0" y="0"/>
                </a:moveTo>
                <a:lnTo>
                  <a:pt x="2999498" y="0"/>
                </a:lnTo>
                <a:lnTo>
                  <a:pt x="2999498" y="2398708"/>
                </a:lnTo>
                <a:lnTo>
                  <a:pt x="0" y="239870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26" name="Freeform 3">
            <a:extLst>
              <a:ext uri="{FF2B5EF4-FFF2-40B4-BE49-F238E27FC236}">
                <a16:creationId xmlns:a16="http://schemas.microsoft.com/office/drawing/2014/main" id="{C27B2312-4148-BC91-BD58-8A769B7C06E8}"/>
              </a:ext>
            </a:extLst>
          </p:cNvPr>
          <p:cNvSpPr/>
          <p:nvPr/>
        </p:nvSpPr>
        <p:spPr>
          <a:xfrm>
            <a:off x="5066225" y="3544795"/>
            <a:ext cx="2999498" cy="2398708"/>
          </a:xfrm>
          <a:custGeom>
            <a:avLst/>
            <a:gdLst/>
            <a:ahLst/>
            <a:cxnLst/>
            <a:rect l="l" t="t" r="r" b="b"/>
            <a:pathLst>
              <a:path w="2999498" h="2398708">
                <a:moveTo>
                  <a:pt x="0" y="0"/>
                </a:moveTo>
                <a:lnTo>
                  <a:pt x="2999499" y="0"/>
                </a:lnTo>
                <a:lnTo>
                  <a:pt x="2999499" y="2398709"/>
                </a:lnTo>
                <a:lnTo>
                  <a:pt x="0" y="23987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8" name="Freeform 2">
            <a:extLst>
              <a:ext uri="{FF2B5EF4-FFF2-40B4-BE49-F238E27FC236}">
                <a16:creationId xmlns:a16="http://schemas.microsoft.com/office/drawing/2014/main" id="{74D00CAD-FF39-376E-0A05-568D71EA3E8E}"/>
              </a:ext>
            </a:extLst>
          </p:cNvPr>
          <p:cNvSpPr/>
          <p:nvPr/>
        </p:nvSpPr>
        <p:spPr>
          <a:xfrm>
            <a:off x="6856448" y="5343922"/>
            <a:ext cx="2999498" cy="2398708"/>
          </a:xfrm>
          <a:custGeom>
            <a:avLst/>
            <a:gdLst/>
            <a:ahLst/>
            <a:cxnLst/>
            <a:rect l="l" t="t" r="r" b="b"/>
            <a:pathLst>
              <a:path w="2999498" h="2398708">
                <a:moveTo>
                  <a:pt x="0" y="0"/>
                </a:moveTo>
                <a:lnTo>
                  <a:pt x="2999498" y="0"/>
                </a:lnTo>
                <a:lnTo>
                  <a:pt x="2999498" y="2398709"/>
                </a:lnTo>
                <a:lnTo>
                  <a:pt x="0" y="23987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0" name="Freeform 4">
            <a:extLst>
              <a:ext uri="{FF2B5EF4-FFF2-40B4-BE49-F238E27FC236}">
                <a16:creationId xmlns:a16="http://schemas.microsoft.com/office/drawing/2014/main" id="{9742EB82-A3C5-14FD-586F-1C14B6143980}"/>
              </a:ext>
            </a:extLst>
          </p:cNvPr>
          <p:cNvSpPr/>
          <p:nvPr/>
        </p:nvSpPr>
        <p:spPr>
          <a:xfrm flipH="1">
            <a:off x="8675674" y="7139235"/>
            <a:ext cx="2436744" cy="2436744"/>
          </a:xfrm>
          <a:custGeom>
            <a:avLst/>
            <a:gdLst/>
            <a:ahLst/>
            <a:cxnLst/>
            <a:rect l="l" t="t" r="r" b="b"/>
            <a:pathLst>
              <a:path w="2436744" h="2436744">
                <a:moveTo>
                  <a:pt x="2436744" y="0"/>
                </a:moveTo>
                <a:lnTo>
                  <a:pt x="0" y="0"/>
                </a:lnTo>
                <a:lnTo>
                  <a:pt x="0" y="2436744"/>
                </a:lnTo>
                <a:lnTo>
                  <a:pt x="2436744" y="2436744"/>
                </a:lnTo>
                <a:lnTo>
                  <a:pt x="243674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4" name="Freeform 6">
            <a:extLst>
              <a:ext uri="{FF2B5EF4-FFF2-40B4-BE49-F238E27FC236}">
                <a16:creationId xmlns:a16="http://schemas.microsoft.com/office/drawing/2014/main" id="{309AE31E-E287-BE99-05C8-14F703C28CD2}"/>
              </a:ext>
            </a:extLst>
          </p:cNvPr>
          <p:cNvSpPr/>
          <p:nvPr/>
        </p:nvSpPr>
        <p:spPr>
          <a:xfrm>
            <a:off x="10519669" y="7722018"/>
            <a:ext cx="592749" cy="2564982"/>
          </a:xfrm>
          <a:custGeom>
            <a:avLst/>
            <a:gdLst/>
            <a:ahLst/>
            <a:cxnLst/>
            <a:rect l="l" t="t" r="r" b="b"/>
            <a:pathLst>
              <a:path w="592749" h="3790837">
                <a:moveTo>
                  <a:pt x="0" y="0"/>
                </a:moveTo>
                <a:lnTo>
                  <a:pt x="592750" y="0"/>
                </a:lnTo>
                <a:lnTo>
                  <a:pt x="592750" y="3790837"/>
                </a:lnTo>
                <a:lnTo>
                  <a:pt x="0" y="379083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9E65AE7-BD57-0099-087B-6C76658A7AAE}"/>
              </a:ext>
            </a:extLst>
          </p:cNvPr>
          <p:cNvSpPr txBox="1"/>
          <p:nvPr/>
        </p:nvSpPr>
        <p:spPr>
          <a:xfrm>
            <a:off x="6087626" y="1377214"/>
            <a:ext cx="9383842" cy="1920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>
              <a:lnSpc>
                <a:spcPts val="2937"/>
              </a:lnSpc>
            </a:pPr>
            <a:r>
              <a:rPr lang="en-US" sz="2098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Thank You for Your Attention</a:t>
            </a:r>
          </a:p>
          <a:p>
            <a:pPr marL="0" lvl="0" indent="0" algn="l">
              <a:lnSpc>
                <a:spcPts val="2937"/>
              </a:lnSpc>
            </a:pPr>
            <a:endParaRPr lang="en-US" sz="2098" b="1" dirty="0">
              <a:solidFill>
                <a:schemeClr val="bg1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  <a:p>
            <a:pPr>
              <a:lnSpc>
                <a:spcPts val="2937"/>
              </a:lnSpc>
            </a:pPr>
            <a:r>
              <a:rPr lang="en-US" sz="2000" dirty="0">
                <a:solidFill>
                  <a:schemeClr val="bg1"/>
                </a:solidFill>
                <a:latin typeface="DM Sans"/>
                <a:ea typeface="DM Sans"/>
                <a:cs typeface="DM Sans"/>
                <a:sym typeface="DM Sans"/>
              </a:rPr>
              <a:t>We appreciate your time exploring this Customer Shopping Behavior Analysis project covering Python EDA, SQL queries, and Power BI dashboards.</a:t>
            </a:r>
          </a:p>
          <a:p>
            <a:pPr marL="0" lvl="0" indent="0" algn="l">
              <a:lnSpc>
                <a:spcPts val="2937"/>
              </a:lnSpc>
            </a:pPr>
            <a:endParaRPr lang="en-US" sz="2098" b="1" dirty="0">
              <a:solidFill>
                <a:schemeClr val="bg1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97AE6A8-B672-5EBA-0E00-6D2817D5FBB1}"/>
              </a:ext>
            </a:extLst>
          </p:cNvPr>
          <p:cNvSpPr txBox="1"/>
          <p:nvPr/>
        </p:nvSpPr>
        <p:spPr>
          <a:xfrm>
            <a:off x="8332463" y="3568513"/>
            <a:ext cx="9383842" cy="1920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>
              <a:lnSpc>
                <a:spcPts val="2937"/>
              </a:lnSpc>
            </a:pPr>
            <a:r>
              <a:rPr lang="en-US" sz="2098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Questions &amp; Discussion</a:t>
            </a:r>
          </a:p>
          <a:p>
            <a:pPr marL="0" lvl="0" indent="0" algn="l">
              <a:lnSpc>
                <a:spcPts val="2937"/>
              </a:lnSpc>
            </a:pPr>
            <a:endParaRPr lang="en-US" sz="2098" b="1" dirty="0">
              <a:solidFill>
                <a:schemeClr val="bg1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  <a:p>
            <a:pPr>
              <a:lnSpc>
                <a:spcPts val="2937"/>
              </a:lnSpc>
            </a:pPr>
            <a:r>
              <a:rPr lang="en-US" sz="2000" dirty="0">
                <a:solidFill>
                  <a:schemeClr val="bg1"/>
                </a:solidFill>
                <a:latin typeface="DM Sans"/>
                <a:ea typeface="DM Sans"/>
                <a:cs typeface="DM Sans"/>
                <a:sym typeface="DM Sans"/>
              </a:rPr>
              <a:t>We welcome your questions, feedback, and insights. Let's discuss findings, methodology, or potential next steps together.</a:t>
            </a:r>
          </a:p>
          <a:p>
            <a:pPr marL="0" lvl="0" indent="0" algn="l">
              <a:lnSpc>
                <a:spcPts val="2937"/>
              </a:lnSpc>
            </a:pPr>
            <a:endParaRPr lang="en-US" sz="2098" b="1" dirty="0">
              <a:solidFill>
                <a:schemeClr val="bg1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A4407D8-7229-CFC2-E43F-DFC9A14749D9}"/>
              </a:ext>
            </a:extLst>
          </p:cNvPr>
          <p:cNvSpPr txBox="1"/>
          <p:nvPr/>
        </p:nvSpPr>
        <p:spPr>
          <a:xfrm>
            <a:off x="10064996" y="5655571"/>
            <a:ext cx="9383842" cy="1920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>
              <a:lnSpc>
                <a:spcPts val="2937"/>
              </a:lnSpc>
            </a:pPr>
            <a:r>
              <a:rPr lang="en-US" sz="2098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Get in Touch</a:t>
            </a:r>
          </a:p>
          <a:p>
            <a:pPr marL="0" lvl="0" indent="0" algn="l">
              <a:lnSpc>
                <a:spcPts val="2937"/>
              </a:lnSpc>
            </a:pPr>
            <a:endParaRPr lang="en-US" sz="2000" b="1" dirty="0">
              <a:solidFill>
                <a:schemeClr val="bg1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  <a:p>
            <a:pPr>
              <a:lnSpc>
                <a:spcPts val="2937"/>
              </a:lnSpc>
            </a:pPr>
            <a:r>
              <a:rPr lang="en-US" sz="2000" dirty="0">
                <a:solidFill>
                  <a:schemeClr val="bg1"/>
                </a:solidFill>
                <a:latin typeface="DM Sans"/>
                <a:ea typeface="DM Sans"/>
                <a:cs typeface="DM Sans"/>
                <a:sym typeface="DM Sans"/>
              </a:rPr>
              <a:t>Feel free to reach out for further details on the analysis, dataset, or dashboard. Open to collaboration and continued data exploration.</a:t>
            </a:r>
          </a:p>
          <a:p>
            <a:pPr marL="0" lvl="0" indent="0" algn="l">
              <a:lnSpc>
                <a:spcPts val="2937"/>
              </a:lnSpc>
            </a:pPr>
            <a:endParaRPr lang="en-US" sz="2098" b="1" dirty="0">
              <a:solidFill>
                <a:schemeClr val="bg1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9876FC9F-9B19-3A83-6645-22C6851D320C}"/>
              </a:ext>
            </a:extLst>
          </p:cNvPr>
          <p:cNvSpPr/>
          <p:nvPr/>
        </p:nvSpPr>
        <p:spPr>
          <a:xfrm>
            <a:off x="5076218" y="1549932"/>
            <a:ext cx="920996" cy="922365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6131E455-C921-E3BA-E029-25A4AE103DFA}"/>
              </a:ext>
            </a:extLst>
          </p:cNvPr>
          <p:cNvSpPr/>
          <p:nvPr/>
        </p:nvSpPr>
        <p:spPr>
          <a:xfrm>
            <a:off x="7205225" y="3770252"/>
            <a:ext cx="920996" cy="922365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7F6A87AC-811F-144F-865E-DB0485E31A4F}"/>
              </a:ext>
            </a:extLst>
          </p:cNvPr>
          <p:cNvSpPr/>
          <p:nvPr/>
        </p:nvSpPr>
        <p:spPr>
          <a:xfrm>
            <a:off x="9039475" y="5852762"/>
            <a:ext cx="920996" cy="922365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1" name="Freeform 19">
            <a:extLst>
              <a:ext uri="{FF2B5EF4-FFF2-40B4-BE49-F238E27FC236}">
                <a16:creationId xmlns:a16="http://schemas.microsoft.com/office/drawing/2014/main" id="{6967A6B1-88CF-BD6D-CA14-82DA1BEDF0AA}"/>
              </a:ext>
            </a:extLst>
          </p:cNvPr>
          <p:cNvSpPr/>
          <p:nvPr/>
        </p:nvSpPr>
        <p:spPr>
          <a:xfrm>
            <a:off x="9259360" y="6066426"/>
            <a:ext cx="481225" cy="476850"/>
          </a:xfrm>
          <a:custGeom>
            <a:avLst/>
            <a:gdLst/>
            <a:ahLst/>
            <a:cxnLst/>
            <a:rect l="l" t="t" r="r" b="b"/>
            <a:pathLst>
              <a:path w="481225" h="476850">
                <a:moveTo>
                  <a:pt x="0" y="0"/>
                </a:moveTo>
                <a:lnTo>
                  <a:pt x="481224" y="0"/>
                </a:lnTo>
                <a:lnTo>
                  <a:pt x="481224" y="476850"/>
                </a:lnTo>
                <a:lnTo>
                  <a:pt x="0" y="4768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3" name="Freeform 18">
            <a:extLst>
              <a:ext uri="{FF2B5EF4-FFF2-40B4-BE49-F238E27FC236}">
                <a16:creationId xmlns:a16="http://schemas.microsoft.com/office/drawing/2014/main" id="{195EBAF3-05CD-6E48-6DDB-9D51B95E0752}"/>
              </a:ext>
            </a:extLst>
          </p:cNvPr>
          <p:cNvSpPr/>
          <p:nvPr/>
        </p:nvSpPr>
        <p:spPr>
          <a:xfrm>
            <a:off x="7428024" y="3997242"/>
            <a:ext cx="475398" cy="458976"/>
          </a:xfrm>
          <a:custGeom>
            <a:avLst/>
            <a:gdLst/>
            <a:ahLst/>
            <a:cxnLst/>
            <a:rect l="l" t="t" r="r" b="b"/>
            <a:pathLst>
              <a:path w="475398" h="458976">
                <a:moveTo>
                  <a:pt x="0" y="0"/>
                </a:moveTo>
                <a:lnTo>
                  <a:pt x="475399" y="0"/>
                </a:lnTo>
                <a:lnTo>
                  <a:pt x="475399" y="458976"/>
                </a:lnTo>
                <a:lnTo>
                  <a:pt x="0" y="45897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4CC7F775-3240-036B-43C8-CDE87BFB4645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prstClr val="black"/>
              <a:schemeClr val="tx1">
                <a:tint val="45000"/>
                <a:satMod val="400000"/>
              </a:schemeClr>
            </a:duotone>
            <a:alphaModFix/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artisticGlowEdges/>
                    </a14:imgEffect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347080" y="1784172"/>
            <a:ext cx="379272" cy="453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6869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766</Words>
  <Application>Microsoft Office PowerPoint</Application>
  <PresentationFormat>Custom</PresentationFormat>
  <Paragraphs>153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DM Sans</vt:lpstr>
      <vt:lpstr>Montserrat Bold</vt:lpstr>
      <vt:lpstr>Calibri</vt:lpstr>
      <vt:lpstr>Merriweather</vt:lpstr>
      <vt:lpstr>Merriweather 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Rudra Pathade</cp:lastModifiedBy>
  <cp:revision>1</cp:revision>
  <dcterms:created xsi:type="dcterms:W3CDTF">2006-08-16T00:00:00Z</dcterms:created>
  <dcterms:modified xsi:type="dcterms:W3CDTF">2026-07-16T19:01:01Z</dcterms:modified>
  <dc:identifier>DAHPjg2RUDg</dc:identifier>
</cp:coreProperties>
</file>